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2" r:id="rId5"/>
    <p:sldId id="273" r:id="rId6"/>
    <p:sldId id="274" r:id="rId7"/>
    <p:sldId id="261" r:id="rId8"/>
    <p:sldId id="275" r:id="rId9"/>
    <p:sldId id="276" r:id="rId10"/>
    <p:sldId id="267" r:id="rId11"/>
    <p:sldId id="268" r:id="rId12"/>
    <p:sldId id="269" r:id="rId13"/>
    <p:sldId id="271" r:id="rId14"/>
    <p:sldId id="27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18"/>
    <p:restoredTop sz="63289"/>
  </p:normalViewPr>
  <p:slideViewPr>
    <p:cSldViewPr snapToGrid="0" snapToObjects="1">
      <p:cViewPr varScale="1">
        <p:scale>
          <a:sx n="96" d="100"/>
          <a:sy n="96" d="100"/>
        </p:scale>
        <p:origin x="17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334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7BC64-1E2A-50E6-1D81-B1495EAEA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0D3CF-8FBF-CB17-45D5-15125FBD9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C8427-A415-FC01-2665-81B134872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F60CD-9A10-D5A2-AD9B-2A6D5CC5F6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66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8B68E-721F-6457-DAD1-FBC27B2A4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CC6F2-2FCD-96F2-C4D0-4F549A118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E29E0-DA43-B26A-3EC6-61B38A4DA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EAFC9-A0F1-EB62-5E2F-CB52947FC3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99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03DCD-2E00-4014-B57D-4C2547F4A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19AF0-4983-6796-052A-720712CA2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09776-10B3-0958-320F-D123BADBC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D5B2C-85C8-8679-AFC5-2CA8A6D6BA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77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F9814-160F-AB75-521F-9988FF636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6C4AE-DEE0-4369-5D65-7ECF916C6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0D427-F76B-A299-1303-BB3C5D46F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83305-B3E9-DFA6-C7B7-C6F9BD01A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38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C2205-D99A-AE74-DD31-120C2D09A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DBE99-522F-9C65-3031-8C4B968C6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EBB9D-0339-83EE-5B4E-504BDB848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D468A-9F73-8925-5DA7-DB51001BA3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18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015B-C7F7-34E4-0FC5-E763A4F07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7EF3A-4AB2-051E-0CFF-312D7C6A5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446A81-1FA2-F47F-DB07-A82F457A8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949F6-1876-640B-3C2B-13F299CA54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8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85216" y="475488"/>
            <a:ext cx="91440" cy="347472"/>
          </a:xfrm>
          <a:custGeom>
            <a:avLst/>
            <a:gdLst/>
            <a:ahLst/>
            <a:cxnLst/>
            <a:rect l="l" t="t" r="r" b="b"/>
            <a:pathLst>
              <a:path w="91440" h="347472">
                <a:moveTo>
                  <a:pt x="0" y="0"/>
                </a:moveTo>
                <a:lnTo>
                  <a:pt x="91440" y="0"/>
                </a:lnTo>
                <a:lnTo>
                  <a:pt x="91440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786384" y="438912"/>
            <a:ext cx="77724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UniVideo at a Glance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585216" y="1305306"/>
            <a:ext cx="7973568" cy="987552"/>
          </a:xfrm>
          <a:custGeom>
            <a:avLst/>
            <a:gdLst/>
            <a:ahLst/>
            <a:cxnLst/>
            <a:rect l="l" t="t" r="r" b="b"/>
            <a:pathLst>
              <a:path w="7973568" h="987552">
                <a:moveTo>
                  <a:pt x="0" y="0"/>
                </a:moveTo>
                <a:lnTo>
                  <a:pt x="7973568" y="0"/>
                </a:lnTo>
                <a:lnTo>
                  <a:pt x="7973568" y="987552"/>
                </a:lnTo>
                <a:lnTo>
                  <a:pt x="0" y="987552"/>
                </a:lnTo>
                <a:close/>
              </a:path>
            </a:pathLst>
          </a:custGeom>
          <a:solidFill>
            <a:srgbClr val="EEF4FF"/>
          </a:solidFill>
          <a:ln w="9144">
            <a:solidFill>
              <a:srgbClr val="C7D7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585216" y="1305306"/>
            <a:ext cx="73152" cy="987552"/>
          </a:xfrm>
          <a:custGeom>
            <a:avLst/>
            <a:gdLst/>
            <a:ahLst/>
            <a:cxnLst/>
            <a:rect l="l" t="t" r="r" b="b"/>
            <a:pathLst>
              <a:path w="73152" h="987552">
                <a:moveTo>
                  <a:pt x="0" y="0"/>
                </a:moveTo>
                <a:lnTo>
                  <a:pt x="73152" y="0"/>
                </a:lnTo>
                <a:lnTo>
                  <a:pt x="73152" y="987552"/>
                </a:lnTo>
                <a:lnTo>
                  <a:pt x="0" y="98755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22960" y="1415034"/>
            <a:ext cx="7571232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UniVideo asks a simple research question with broad implications: can the unified multimodal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modeling paradigm that worked for images be extended to videos without splitting the problem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into separate systems?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585216" y="2683764"/>
            <a:ext cx="7973568" cy="1984248"/>
          </a:xfrm>
          <a:custGeom>
            <a:avLst/>
            <a:gdLst/>
            <a:ahLst/>
            <a:cxnLst/>
            <a:rect l="l" t="t" r="r" b="b"/>
            <a:pathLst>
              <a:path w="7973568" h="1984248">
                <a:moveTo>
                  <a:pt x="0" y="0"/>
                </a:moveTo>
                <a:lnTo>
                  <a:pt x="7973568" y="0"/>
                </a:lnTo>
                <a:lnTo>
                  <a:pt x="7973568" y="1984248"/>
                </a:lnTo>
                <a:lnTo>
                  <a:pt x="0" y="1984248"/>
                </a:lnTo>
                <a:close/>
              </a:path>
            </a:pathLst>
          </a:custGeom>
          <a:solidFill>
            <a:srgbClr val="ECFEFF"/>
          </a:solidFill>
          <a:ln w="9144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571718" y="2683764"/>
            <a:ext cx="73152" cy="1984248"/>
          </a:xfrm>
          <a:custGeom>
            <a:avLst/>
            <a:gdLst/>
            <a:ahLst/>
            <a:cxnLst/>
            <a:rect l="l" t="t" r="r" b="b"/>
            <a:pathLst>
              <a:path w="73152" h="1984248">
                <a:moveTo>
                  <a:pt x="0" y="0"/>
                </a:moveTo>
                <a:lnTo>
                  <a:pt x="73152" y="0"/>
                </a:lnTo>
                <a:lnTo>
                  <a:pt x="73152" y="1984248"/>
                </a:lnTo>
                <a:lnTo>
                  <a:pt x="0" y="1984248"/>
                </a:ln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822960" y="2683764"/>
            <a:ext cx="7571232" cy="1764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Core claim: a single framework can support video understanding, generation, and editing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under multimodal instructions.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Research motivation: many prior video systems are task-specific, rely mainly on text-only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conditioning, or remain weak at multimodal video reasoning.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Why this matters: video is temporally structured and often requires joint reasoning over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appearance, motion, and instruction context.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Expected payoff: better task unification, stronger instruction following, and broader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generalization across video tasks.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85216" y="475488"/>
            <a:ext cx="91440" cy="347472"/>
          </a:xfrm>
          <a:custGeom>
            <a:avLst/>
            <a:gdLst/>
            <a:ahLst/>
            <a:cxnLst/>
            <a:rect l="l" t="t" r="r" b="b"/>
            <a:pathLst>
              <a:path w="91440" h="347472">
                <a:moveTo>
                  <a:pt x="0" y="0"/>
                </a:moveTo>
                <a:lnTo>
                  <a:pt x="91440" y="0"/>
                </a:lnTo>
                <a:lnTo>
                  <a:pt x="91440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786384" y="438912"/>
            <a:ext cx="77724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Video Unification Is Hard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585216" y="1060704"/>
            <a:ext cx="7973568" cy="987552"/>
          </a:xfrm>
          <a:custGeom>
            <a:avLst/>
            <a:gdLst/>
            <a:ahLst/>
            <a:cxnLst/>
            <a:rect l="l" t="t" r="r" b="b"/>
            <a:pathLst>
              <a:path w="7973568" h="987552">
                <a:moveTo>
                  <a:pt x="0" y="0"/>
                </a:moveTo>
                <a:lnTo>
                  <a:pt x="7973568" y="0"/>
                </a:lnTo>
                <a:lnTo>
                  <a:pt x="7973568" y="987552"/>
                </a:lnTo>
                <a:lnTo>
                  <a:pt x="0" y="987552"/>
                </a:lnTo>
                <a:close/>
              </a:path>
            </a:pathLst>
          </a:custGeom>
          <a:solidFill>
            <a:srgbClr val="EEF4FF"/>
          </a:solidFill>
          <a:ln w="9144">
            <a:solidFill>
              <a:srgbClr val="C7D7F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585216" y="1060704"/>
            <a:ext cx="73152" cy="987552"/>
          </a:xfrm>
          <a:custGeom>
            <a:avLst/>
            <a:gdLst/>
            <a:ahLst/>
            <a:cxnLst/>
            <a:rect l="l" t="t" r="r" b="b"/>
            <a:pathLst>
              <a:path w="73152" h="987552">
                <a:moveTo>
                  <a:pt x="0" y="0"/>
                </a:moveTo>
                <a:lnTo>
                  <a:pt x="73152" y="0"/>
                </a:lnTo>
                <a:lnTo>
                  <a:pt x="73152" y="987552"/>
                </a:lnTo>
                <a:lnTo>
                  <a:pt x="0" y="98755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22960" y="1170432"/>
            <a:ext cx="7571232" cy="7680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central gap is not just generating video clips, but unifying understanding, generation,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 editing across text, images, and video within one multimodal system. Earlier approaches</a:t>
            </a:r>
            <a:endParaRPr lang="en-US" sz="1152" dirty="0"/>
          </a:p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usually solve only part of that problem.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498131" y="2305904"/>
            <a:ext cx="7973568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Prior systems cover useful subproblems, but not full multimodal video unification.</a:t>
            </a:r>
            <a:endParaRPr lang="en-US" sz="1152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979429"/>
              </p:ext>
            </p:extLst>
          </p:nvPr>
        </p:nvGraphicFramePr>
        <p:xfrm>
          <a:off x="585216" y="2763138"/>
          <a:ext cx="7973568" cy="1901826"/>
        </p:xfrm>
        <a:graphic>
          <a:graphicData uri="http://schemas.openxmlformats.org/drawingml/2006/table">
            <a:tbl>
              <a:tblPr/>
              <a:tblGrid>
                <a:gridCol w="2657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7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7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b="1" u="none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System trend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b="1" u="none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What it does well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b="1" u="none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What remains missing for a unified video model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Unified multimodal models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Strong at text-image understanding and image generation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Often image-centric rather than truly video-capable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Text-to-video models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Generate videos from text prompts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Usually weak at reasoning over richer multimodal inputs such as images, video context, or mixed prompts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Video editing pipelines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Handle specific editing tasks with engineered workflows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Commonly rely on task-specific modules, masks, or custom adapters instead of one general framework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Idea: A Dual-Stream Architecture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243584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468880" cy="2556532"/>
          </a:xfrm>
          <a:custGeom>
            <a:avLst/>
            <a:gdLst/>
            <a:ahLst/>
            <a:cxnLst/>
            <a:rect l="l" t="t" r="r" b="b"/>
            <a:pathLst>
              <a:path w="2468880" h="2103120">
                <a:moveTo>
                  <a:pt x="0" y="0"/>
                </a:moveTo>
                <a:lnTo>
                  <a:pt x="2468880" y="0"/>
                </a:lnTo>
                <a:lnTo>
                  <a:pt x="246888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EFF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6126480" y="1554480"/>
            <a:ext cx="2468880" cy="2556522"/>
          </a:xfrm>
          <a:custGeom>
            <a:avLst/>
            <a:gdLst/>
            <a:ahLst/>
            <a:cxnLst/>
            <a:rect l="l" t="t" r="r" b="b"/>
            <a:pathLst>
              <a:path w="2468880" h="2103120">
                <a:moveTo>
                  <a:pt x="0" y="0"/>
                </a:moveTo>
                <a:lnTo>
                  <a:pt x="2468880" y="0"/>
                </a:lnTo>
                <a:lnTo>
                  <a:pt x="246888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F5F3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3291840" y="1554479"/>
            <a:ext cx="2560320" cy="2556523"/>
          </a:xfrm>
          <a:custGeom>
            <a:avLst/>
            <a:gdLst/>
            <a:ahLst/>
            <a:cxnLst/>
            <a:rect l="l" t="t" r="r" b="b"/>
            <a:pathLst>
              <a:path w="2560320" h="2103120">
                <a:moveTo>
                  <a:pt x="0" y="0"/>
                </a:moveTo>
                <a:lnTo>
                  <a:pt x="2560320" y="0"/>
                </a:lnTo>
                <a:lnTo>
                  <a:pt x="256032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31520" y="1737360"/>
            <a:ext cx="2103120" cy="75469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Understanding Stream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09360" y="1737360"/>
            <a:ext cx="2103120" cy="75469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00" b="1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Generation Stream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566160" y="1719072"/>
            <a:ext cx="2011680" cy="4592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Dual-Stream Goal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2331720"/>
            <a:ext cx="2286000" cy="166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MLLM for semantic interpretation</a:t>
            </a:r>
            <a:endParaRPr lang="en-US" sz="1000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Reads text, images, videos</a:t>
            </a:r>
            <a:endParaRPr lang="en-US" sz="1000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Keeps language reasoning strong</a:t>
            </a:r>
            <a:endParaRPr lang="en-US" sz="1000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Builds task-aware understanding</a:t>
            </a:r>
            <a:endParaRPr lang="en-US" sz="1000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Supports precise editing intent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2331720"/>
            <a:ext cx="2103120" cy="148483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MMDiT for visual synthesis</a:t>
            </a:r>
            <a:endParaRPr lang="en-US" sz="1000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Generates or edits outputs</a:t>
            </a:r>
            <a:endParaRPr lang="en-US" sz="1000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Focuses on visual fidelity</a:t>
            </a:r>
            <a:endParaRPr lang="en-US" sz="1000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Handles appearance details</a:t>
            </a:r>
            <a:endParaRPr lang="en-US" sz="1000" dirty="0"/>
          </a:p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Produces coherent visual results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566160" y="2286000"/>
            <a:ext cx="2011680" cy="106420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Division of labor</a:t>
            </a:r>
            <a:endParaRPr lang="en-US" sz="1000" dirty="0"/>
          </a:p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Reasoning + rendering</a:t>
            </a:r>
            <a:endParaRPr lang="en-US" sz="1000" dirty="0"/>
          </a:p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Coordinated, not isolated</a:t>
            </a:r>
            <a:endParaRPr lang="en-US" sz="1000" dirty="0"/>
          </a:p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Consistency across streams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926080" y="2606040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36576">
            <a:solidFill>
              <a:srgbClr val="2563E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5852160" y="2606040"/>
            <a:ext cx="274320" cy="0"/>
          </a:xfrm>
          <a:custGeom>
            <a:avLst/>
            <a:gdLst/>
            <a:ahLst/>
            <a:cxnLst/>
            <a:rect l="l" t="t" r="r" b="b"/>
            <a:pathLst>
              <a:path w="274320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/>
          <a:ln w="36576">
            <a:solidFill>
              <a:srgbClr val="7C3AE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548640" y="4334256"/>
            <a:ext cx="8046720" cy="749808"/>
          </a:xfrm>
          <a:custGeom>
            <a:avLst/>
            <a:gdLst/>
            <a:ahLst/>
            <a:cxnLst/>
            <a:rect l="l" t="t" r="r" b="b"/>
            <a:pathLst>
              <a:path w="8046720" h="749808">
                <a:moveTo>
                  <a:pt x="0" y="0"/>
                </a:moveTo>
                <a:lnTo>
                  <a:pt x="8046720" y="0"/>
                </a:lnTo>
                <a:lnTo>
                  <a:pt x="8046720" y="749808"/>
                </a:lnTo>
                <a:lnTo>
                  <a:pt x="0" y="749808"/>
                </a:lnTo>
                <a:close/>
              </a:path>
            </a:pathLst>
          </a:custGeom>
          <a:solidFill>
            <a:srgbClr val="EEF2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731520" y="4467630"/>
            <a:ext cx="76809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requirement:</a:t>
            </a:r>
            <a:r>
              <a:rPr lang="en-US" sz="1152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cross-stream consistency for editing precision, identity preservation, and reliable alignment between intent and output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B3647-3F23-10D8-769C-E408897E1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025F9E8-E5E2-D158-2EA9-F0974BE71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4596"/>
            <a:ext cx="7772400" cy="483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4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1C8B-8AB7-1BE9-5EF3-67ECADD5B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E526E209-DED5-03E8-EAD9-2CF79F769CEF}"/>
              </a:ext>
            </a:extLst>
          </p:cNvPr>
          <p:cNvSpPr/>
          <p:nvPr/>
        </p:nvSpPr>
        <p:spPr>
          <a:xfrm>
            <a:off x="585216" y="475488"/>
            <a:ext cx="91440" cy="347472"/>
          </a:xfrm>
          <a:custGeom>
            <a:avLst/>
            <a:gdLst/>
            <a:ahLst/>
            <a:cxnLst/>
            <a:rect l="l" t="t" r="r" b="b"/>
            <a:pathLst>
              <a:path w="91440" h="347472">
                <a:moveTo>
                  <a:pt x="0" y="0"/>
                </a:moveTo>
                <a:lnTo>
                  <a:pt x="91440" y="0"/>
                </a:lnTo>
                <a:lnTo>
                  <a:pt x="91440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B9AA193-82C3-47DD-A2CC-8034BAE2471D}"/>
              </a:ext>
            </a:extLst>
          </p:cNvPr>
          <p:cNvSpPr/>
          <p:nvPr/>
        </p:nvSpPr>
        <p:spPr>
          <a:xfrm>
            <a:off x="786384" y="438912"/>
            <a:ext cx="7772400" cy="5002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UniVideo Unifies Multiple Tasks</a:t>
            </a:r>
            <a:endParaRPr lang="en-US" sz="2000" dirty="0"/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50F3172E-FFB2-B117-ED9A-5E8494A7C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495239"/>
              </p:ext>
            </p:extLst>
          </p:nvPr>
        </p:nvGraphicFramePr>
        <p:xfrm>
          <a:off x="585216" y="2280824"/>
          <a:ext cx="7973568" cy="2638807"/>
        </p:xfrm>
        <a:graphic>
          <a:graphicData uri="http://schemas.openxmlformats.org/drawingml/2006/table">
            <a:tbl>
              <a:tblPr/>
              <a:tblGrid>
                <a:gridCol w="2657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7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7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8" b="1" u="none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Task</a:t>
                      </a:r>
                      <a:r>
                        <a:rPr lang="zh-CN" altLang="en-US" sz="1008" b="1" u="none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 </a:t>
                      </a:r>
                      <a:r>
                        <a:rPr lang="en-CA" altLang="zh-CN" sz="1008" b="1" u="none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charset="0"/>
                        </a:rPr>
                        <a:t>Type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8" b="1" dirty="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Inputs</a:t>
                      </a: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8" b="1" dirty="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Process</a:t>
                      </a: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dirty="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T2I (Text to Image)</a:t>
                      </a: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MLLM: Text</a:t>
                      </a:r>
                      <a:br>
                        <a:rPr 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</a:br>
                      <a:r>
                        <a:rPr 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MM-DIT: noisy </a:t>
                      </a:r>
                      <a:r>
                        <a:rPr lang="en-US" sz="1008" kern="1200" dirty="0" err="1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Imgae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text → conditioning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noise → denoise → Image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I2V (Image to Video)</a:t>
                      </a: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MLLM: image + text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MM-</a:t>
                      </a:r>
                      <a:r>
                        <a:rPr lang="en-CA" altLang="zh-CN" sz="1008" kern="1200" dirty="0" err="1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DiT</a:t>
                      </a: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: image + noisy video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image + text → conditioning </a:t>
                      </a:r>
                      <a:br>
                        <a:rPr lang="en-US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noise → denoise → video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8" dirty="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T2V (Text to video)</a:t>
                      </a: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MLLM: Text</a:t>
                      </a:r>
                      <a:br>
                        <a:rPr 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</a:br>
                      <a:r>
                        <a:rPr 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MM-DIT: noisy video</a:t>
                      </a: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text → conditioning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noise → denoise → video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Image Editing</a:t>
                      </a: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MLLM: image + text 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MM-</a:t>
                      </a:r>
                      <a:r>
                        <a:rPr lang="en-CA" altLang="zh-CN" sz="1008" kern="1200" dirty="0" err="1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DiT</a:t>
                      </a: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: image + noisy image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image → structure 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text → edit  instruction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</a:rPr>
                        <a:t>noise → denoise → image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54473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ID-V2V</a:t>
                      </a:r>
                      <a:r>
                        <a:rPr lang="zh-CN" altLang="en-US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 </a:t>
                      </a: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(Video Editing)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+mn-cs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MLLM: video + text 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MM-</a:t>
                      </a:r>
                      <a:r>
                        <a:rPr lang="en-CA" altLang="zh-CN" sz="1008" kern="1200" dirty="0" err="1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DiT</a:t>
                      </a: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: video + noisy video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+mn-cs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video → structure + identity 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text → edit instruction </a:t>
                      </a:r>
                      <a:b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</a:br>
                      <a:r>
                        <a:rPr lang="en-CA" altLang="zh-CN" sz="1008" kern="1200" dirty="0">
                          <a:solidFill>
                            <a:schemeClr val="tx1"/>
                          </a:solidFill>
                          <a:latin typeface="Microsoft YaHei" charset="0"/>
                          <a:ea typeface="Microsoft YaHei" charset="0"/>
                          <a:cs typeface="+mn-cs"/>
                        </a:rPr>
                        <a:t>noise → denoise → edited video</a:t>
                      </a:r>
                      <a:endParaRPr lang="en-US" sz="1008" kern="1200" dirty="0">
                        <a:solidFill>
                          <a:schemeClr val="tx1"/>
                        </a:solidFill>
                        <a:latin typeface="Microsoft YaHei" charset="0"/>
                        <a:ea typeface="Microsoft YaHei" charset="0"/>
                        <a:cs typeface="+mn-cs"/>
                      </a:endParaRPr>
                    </a:p>
                  </a:txBody>
                  <a:tcPr anchor="ctr">
                    <a:lnL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415128"/>
                  </a:ext>
                </a:extLst>
              </a:tr>
            </a:tbl>
          </a:graphicData>
        </a:graphic>
      </p:graphicFrame>
      <p:sp>
        <p:nvSpPr>
          <p:cNvPr id="6" name="Shape 5">
            <a:extLst>
              <a:ext uri="{FF2B5EF4-FFF2-40B4-BE49-F238E27FC236}">
                <a16:creationId xmlns:a16="http://schemas.microsoft.com/office/drawing/2014/main" id="{CE77BA44-3D70-A5DC-A8C9-093A60508BB0}"/>
              </a:ext>
            </a:extLst>
          </p:cNvPr>
          <p:cNvSpPr/>
          <p:nvPr/>
        </p:nvSpPr>
        <p:spPr>
          <a:xfrm>
            <a:off x="585216" y="982216"/>
            <a:ext cx="5166572" cy="1207167"/>
          </a:xfrm>
          <a:custGeom>
            <a:avLst/>
            <a:gdLst/>
            <a:ahLst/>
            <a:cxnLst/>
            <a:rect l="l" t="t" r="r" b="b"/>
            <a:pathLst>
              <a:path w="7973568" h="1984248">
                <a:moveTo>
                  <a:pt x="0" y="0"/>
                </a:moveTo>
                <a:lnTo>
                  <a:pt x="7973568" y="0"/>
                </a:lnTo>
                <a:lnTo>
                  <a:pt x="7973568" y="1984248"/>
                </a:lnTo>
                <a:lnTo>
                  <a:pt x="0" y="1984248"/>
                </a:lnTo>
                <a:close/>
              </a:path>
            </a:pathLst>
          </a:custGeom>
          <a:solidFill>
            <a:srgbClr val="ECFEFF"/>
          </a:solidFill>
          <a:ln w="9144">
            <a:solidFill>
              <a:srgbClr val="BAE6FD"/>
            </a:solidFill>
            <a:prstDash val="solid"/>
          </a:ln>
        </p:spPr>
        <p:txBody>
          <a:bodyPr/>
          <a:lstStyle/>
          <a:p>
            <a:r>
              <a:rPr lang="en-US" altLang="zh-CN" sz="1400" dirty="0"/>
              <a:t>Architecturally, the multiple visual conditions are encoded, padded to a common format, concatenated along the temporal dimension, and then processed with self-attention. </a:t>
            </a:r>
          </a:p>
          <a:p>
            <a:r>
              <a:rPr lang="en-US" altLang="zh-CN" sz="1400" dirty="0"/>
              <a:t>That means the model can reason over all conditions jointly instead of hard-coding a custom path for each task.</a:t>
            </a:r>
            <a:endParaRPr lang="zh-CN" altLang="en-US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FFF85B-80EC-388B-6954-80121C230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788" y="0"/>
            <a:ext cx="3392212" cy="210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557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03E36-A2A1-D504-CD1E-B2FC5BFE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A7B9C5B-950D-B37F-03D8-9E3803DE3B5F}"/>
              </a:ext>
            </a:extLst>
          </p:cNvPr>
          <p:cNvSpPr/>
          <p:nvPr/>
        </p:nvSpPr>
        <p:spPr>
          <a:xfrm>
            <a:off x="585216" y="475488"/>
            <a:ext cx="91440" cy="347472"/>
          </a:xfrm>
          <a:custGeom>
            <a:avLst/>
            <a:gdLst/>
            <a:ahLst/>
            <a:cxnLst/>
            <a:rect l="l" t="t" r="r" b="b"/>
            <a:pathLst>
              <a:path w="91440" h="347472">
                <a:moveTo>
                  <a:pt x="0" y="0"/>
                </a:moveTo>
                <a:lnTo>
                  <a:pt x="91440" y="0"/>
                </a:lnTo>
                <a:lnTo>
                  <a:pt x="91440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0835CED-26F4-181C-969E-A3FBDEDB3407}"/>
              </a:ext>
            </a:extLst>
          </p:cNvPr>
          <p:cNvSpPr/>
          <p:nvPr/>
        </p:nvSpPr>
        <p:spPr>
          <a:xfrm>
            <a:off x="786384" y="438912"/>
            <a:ext cx="7772400" cy="5255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08000"/>
              </a:lnSpc>
              <a:spcBef>
                <a:spcPts val="360"/>
              </a:spcBef>
            </a:pPr>
            <a:r>
              <a:rPr lang="en-US" altLang="zh-CN" sz="21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Conditioning Strategy for Video Inputs</a:t>
            </a:r>
            <a:endParaRPr lang="en-US" altLang="zh-CN" sz="1152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42753FA-7454-1784-3023-81468C4EF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53" y="1171039"/>
            <a:ext cx="4102017" cy="3139621"/>
          </a:xfrm>
          <a:prstGeom prst="rect">
            <a:avLst/>
          </a:prstGeom>
        </p:spPr>
      </p:pic>
      <p:sp>
        <p:nvSpPr>
          <p:cNvPr id="18" name="Text 7">
            <a:extLst>
              <a:ext uri="{FF2B5EF4-FFF2-40B4-BE49-F238E27FC236}">
                <a16:creationId xmlns:a16="http://schemas.microsoft.com/office/drawing/2014/main" id="{A5ADC503-C2ED-84B3-3C50-33ED718C0E05}"/>
              </a:ext>
            </a:extLst>
          </p:cNvPr>
          <p:cNvSpPr/>
          <p:nvPr/>
        </p:nvSpPr>
        <p:spPr>
          <a:xfrm>
            <a:off x="676656" y="4326053"/>
            <a:ext cx="3256855" cy="64729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</a:rPr>
              <a:t>Before</a:t>
            </a:r>
          </a:p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/>
              <a:t>Condition Guides Generation</a:t>
            </a: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5A062CF1-6CBB-09D8-142E-85F8C884B639}"/>
              </a:ext>
            </a:extLst>
          </p:cNvPr>
          <p:cNvSpPr/>
          <p:nvPr/>
        </p:nvSpPr>
        <p:spPr>
          <a:xfrm>
            <a:off x="4973673" y="4310660"/>
            <a:ext cx="3256855" cy="64729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 err="1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</a:rPr>
              <a:t>UniVideo</a:t>
            </a:r>
            <a:endParaRPr lang="en-US" sz="1152" b="1" dirty="0">
              <a:solidFill>
                <a:srgbClr val="1E3A8A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ea typeface="Microsoft YaHei" pitchFamily="34" charset="-122"/>
              </a:rPr>
              <a:t>Condition Participates in Generation</a:t>
            </a:r>
            <a:endParaRPr lang="en-US" sz="1152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41509B-9FCB-119D-27C1-FB84EE656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477" y="1171039"/>
            <a:ext cx="4235039" cy="313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40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85216" y="475488"/>
            <a:ext cx="91440" cy="347472"/>
          </a:xfrm>
          <a:custGeom>
            <a:avLst/>
            <a:gdLst/>
            <a:ahLst/>
            <a:cxnLst/>
            <a:rect l="l" t="t" r="r" b="b"/>
            <a:pathLst>
              <a:path w="91440" h="347472">
                <a:moveTo>
                  <a:pt x="0" y="0"/>
                </a:moveTo>
                <a:lnTo>
                  <a:pt x="91440" y="0"/>
                </a:lnTo>
                <a:lnTo>
                  <a:pt x="91440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786384" y="438912"/>
            <a:ext cx="77724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Conditioning Strategy for Video Inputs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621792" y="4101084"/>
            <a:ext cx="7973568" cy="566928"/>
          </a:xfrm>
          <a:custGeom>
            <a:avLst/>
            <a:gdLst/>
            <a:ahLst/>
            <a:cxnLst/>
            <a:rect l="l" t="t" r="r" b="b"/>
            <a:pathLst>
              <a:path w="7973568" h="566928">
                <a:moveTo>
                  <a:pt x="0" y="0"/>
                </a:moveTo>
                <a:lnTo>
                  <a:pt x="7973568" y="0"/>
                </a:lnTo>
                <a:lnTo>
                  <a:pt x="7973568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7ED"/>
          </a:solidFill>
          <a:ln w="9144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585216" y="4092375"/>
            <a:ext cx="73152" cy="566928"/>
          </a:xfrm>
          <a:custGeom>
            <a:avLst/>
            <a:gdLst/>
            <a:ahLst/>
            <a:cxnLst/>
            <a:rect l="l" t="t" r="r" b="b"/>
            <a:pathLst>
              <a:path w="73152" h="566928">
                <a:moveTo>
                  <a:pt x="0" y="0"/>
                </a:moveTo>
                <a:lnTo>
                  <a:pt x="73152" y="0"/>
                </a:lnTo>
                <a:lnTo>
                  <a:pt x="73152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EA580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A1DED1-45CA-8307-109A-3C64BC6B9C7B}"/>
              </a:ext>
            </a:extLst>
          </p:cNvPr>
          <p:cNvSpPr txBox="1"/>
          <p:nvPr/>
        </p:nvSpPr>
        <p:spPr>
          <a:xfrm>
            <a:off x="786384" y="1331989"/>
            <a:ext cx="44201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Example: </a:t>
            </a:r>
            <a:br>
              <a:rPr kumimoji="1" lang="en-US" altLang="zh-CN" dirty="0"/>
            </a:br>
            <a:r>
              <a:rPr kumimoji="1" lang="en-US" altLang="zh-CN" dirty="0"/>
              <a:t>Input an Image, and produce a 4-frame video</a:t>
            </a:r>
            <a:endParaRPr kumimoji="1"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849DEBD-E1A5-8A9C-F112-3AC637300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23778"/>
            <a:ext cx="6731000" cy="16002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F602791-C6B1-8163-3580-22DE36770E3C}"/>
              </a:ext>
            </a:extLst>
          </p:cNvPr>
          <p:cNvSpPr txBox="1"/>
          <p:nvPr/>
        </p:nvSpPr>
        <p:spPr>
          <a:xfrm>
            <a:off x="822960" y="4210812"/>
            <a:ext cx="6954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zh-CN" dirty="0"/>
              <a:t>Condition frames are treated as earlier timesteps in the video sequence.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6416E9-C907-8275-6596-F21609F9D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016" y="-11723"/>
            <a:ext cx="2754923" cy="204234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7375C18-0E2B-D055-778B-9897669D1115}"/>
              </a:ext>
            </a:extLst>
          </p:cNvPr>
          <p:cNvSpPr/>
          <p:nvPr/>
        </p:nvSpPr>
        <p:spPr>
          <a:xfrm>
            <a:off x="6906638" y="1191506"/>
            <a:ext cx="1652145" cy="3651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74F72740-2083-1CED-8E72-9A42ABDE07B7}"/>
              </a:ext>
            </a:extLst>
          </p:cNvPr>
          <p:cNvCxnSpPr/>
          <p:nvPr/>
        </p:nvCxnSpPr>
        <p:spPr>
          <a:xfrm flipH="1">
            <a:off x="6520543" y="1556657"/>
            <a:ext cx="566057" cy="1153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7263F-FF1C-3B07-E943-9277C8899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">
            <a:extLst>
              <a:ext uri="{FF2B5EF4-FFF2-40B4-BE49-F238E27FC236}">
                <a16:creationId xmlns:a16="http://schemas.microsoft.com/office/drawing/2014/main" id="{C14E9D32-DE5E-A7CD-560C-48ED2FE98BFF}"/>
              </a:ext>
            </a:extLst>
          </p:cNvPr>
          <p:cNvSpPr/>
          <p:nvPr/>
        </p:nvSpPr>
        <p:spPr>
          <a:xfrm>
            <a:off x="585216" y="2750693"/>
            <a:ext cx="7973568" cy="2216161"/>
          </a:xfrm>
          <a:custGeom>
            <a:avLst/>
            <a:gdLst/>
            <a:ahLst/>
            <a:cxnLst/>
            <a:rect l="l" t="t" r="r" b="b"/>
            <a:pathLst>
              <a:path w="7973568" h="1188720">
                <a:moveTo>
                  <a:pt x="0" y="0"/>
                </a:moveTo>
                <a:lnTo>
                  <a:pt x="7973568" y="0"/>
                </a:lnTo>
                <a:lnTo>
                  <a:pt x="7973568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ECFEFF"/>
          </a:solidFill>
          <a:ln w="9144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A3274501-651C-3FA2-A70F-9592BE8630DA}"/>
              </a:ext>
            </a:extLst>
          </p:cNvPr>
          <p:cNvSpPr/>
          <p:nvPr/>
        </p:nvSpPr>
        <p:spPr>
          <a:xfrm>
            <a:off x="585216" y="475488"/>
            <a:ext cx="91440" cy="347472"/>
          </a:xfrm>
          <a:custGeom>
            <a:avLst/>
            <a:gdLst/>
            <a:ahLst/>
            <a:cxnLst/>
            <a:rect l="l" t="t" r="r" b="b"/>
            <a:pathLst>
              <a:path w="91440" h="347472">
                <a:moveTo>
                  <a:pt x="0" y="0"/>
                </a:moveTo>
                <a:lnTo>
                  <a:pt x="91440" y="0"/>
                </a:lnTo>
                <a:lnTo>
                  <a:pt x="91440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487722D-05B0-21BB-5866-F07DE8B4EBE9}"/>
              </a:ext>
            </a:extLst>
          </p:cNvPr>
          <p:cNvSpPr/>
          <p:nvPr/>
        </p:nvSpPr>
        <p:spPr>
          <a:xfrm>
            <a:off x="786384" y="380211"/>
            <a:ext cx="7772400" cy="5255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</a:rPr>
              <a:t>Positional Embedding for </a:t>
            </a:r>
            <a:r>
              <a:rPr lang="en-US" sz="2160" b="1" dirty="0" err="1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</a:rPr>
              <a:t>UniVideo</a:t>
            </a:r>
            <a:endParaRPr lang="en-US" sz="1152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15E8786-FA58-7B03-FFDC-29C62CAF2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106" y="1548253"/>
            <a:ext cx="6286500" cy="10414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CD68562-DFD7-CEFD-D59E-D7E746E4C07D}"/>
              </a:ext>
            </a:extLst>
          </p:cNvPr>
          <p:cNvSpPr txBox="1"/>
          <p:nvPr/>
        </p:nvSpPr>
        <p:spPr>
          <a:xfrm>
            <a:off x="786384" y="1099457"/>
            <a:ext cx="2087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CA" altLang="zh-CN" dirty="0"/>
              <a:t>Input to MMDIT: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655D1C-E0A7-1A36-D0F2-F1789C21360E}"/>
              </a:ext>
            </a:extLst>
          </p:cNvPr>
          <p:cNvSpPr txBox="1"/>
          <p:nvPr/>
        </p:nvSpPr>
        <p:spPr>
          <a:xfrm>
            <a:off x="786384" y="2731964"/>
            <a:ext cx="76282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CA" altLang="zh-CN" b="1" dirty="0"/>
              <a:t>Question:</a:t>
            </a:r>
            <a:br>
              <a:rPr kumimoji="1" lang="en-CA" altLang="zh-CN" dirty="0"/>
            </a:br>
            <a:endParaRPr kumimoji="1" lang="en-CA" altLang="zh-CN" dirty="0"/>
          </a:p>
          <a:p>
            <a:r>
              <a:rPr kumimoji="1" lang="en-CA" altLang="zh-CN" dirty="0"/>
              <a:t>If the model does not know which frame is condition, how can the model avoid to edit the conditional frame?</a:t>
            </a:r>
          </a:p>
          <a:p>
            <a:endParaRPr kumimoji="1" lang="en-CA" altLang="zh-CN" dirty="0"/>
          </a:p>
          <a:p>
            <a:r>
              <a:rPr kumimoji="1" lang="en-CA" altLang="zh-CN" b="1" dirty="0" err="1"/>
              <a:t>UniVideo</a:t>
            </a:r>
            <a:r>
              <a:rPr kumimoji="1" lang="en-CA" altLang="zh-CN" b="1" dirty="0"/>
              <a:t>: </a:t>
            </a:r>
            <a:br>
              <a:rPr kumimoji="1" lang="en-CA" altLang="zh-CN" dirty="0"/>
            </a:br>
            <a:r>
              <a:rPr kumimoji="1" lang="en-CA" altLang="zh-CN" dirty="0"/>
              <a:t>3D Positional Encoding</a:t>
            </a:r>
            <a:r>
              <a:rPr kumimoji="1" lang="zh-CN" altLang="en-US" dirty="0"/>
              <a:t> </a:t>
            </a:r>
            <a:endParaRPr kumimoji="1" lang="en-CA" altLang="zh-CN" dirty="0"/>
          </a:p>
          <a:p>
            <a:r>
              <a:rPr kumimoji="1" lang="en-CA" altLang="zh-CN" dirty="0"/>
              <a:t>(token = content + </a:t>
            </a:r>
            <a:r>
              <a:rPr kumimoji="1" lang="en-CA" altLang="zh-CN" dirty="0" err="1"/>
              <a:t>positional_embedding</a:t>
            </a:r>
            <a:r>
              <a:rPr kumimoji="1" lang="en-CA" altLang="zh-CN" dirty="0"/>
              <a:t>(t, h, w)</a:t>
            </a:r>
            <a:endParaRPr kumimoji="1" lang="zh-CN" alt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7B5EF906-613C-BF33-EEF5-84BB160E5372}"/>
              </a:ext>
            </a:extLst>
          </p:cNvPr>
          <p:cNvSpPr/>
          <p:nvPr/>
        </p:nvSpPr>
        <p:spPr>
          <a:xfrm>
            <a:off x="566928" y="2742355"/>
            <a:ext cx="91440" cy="2216160"/>
          </a:xfrm>
          <a:custGeom>
            <a:avLst/>
            <a:gdLst/>
            <a:ahLst/>
            <a:cxnLst/>
            <a:rect l="l" t="t" r="r" b="b"/>
            <a:pathLst>
              <a:path w="73152" h="1188720">
                <a:moveTo>
                  <a:pt x="0" y="0"/>
                </a:moveTo>
                <a:lnTo>
                  <a:pt x="73152" y="0"/>
                </a:lnTo>
                <a:lnTo>
                  <a:pt x="73152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118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D0229-9458-9A7B-5650-3FE5E2219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">
            <a:extLst>
              <a:ext uri="{FF2B5EF4-FFF2-40B4-BE49-F238E27FC236}">
                <a16:creationId xmlns:a16="http://schemas.microsoft.com/office/drawing/2014/main" id="{CB01831E-2A5E-50FF-447E-B0E7610C8431}"/>
              </a:ext>
            </a:extLst>
          </p:cNvPr>
          <p:cNvSpPr/>
          <p:nvPr/>
        </p:nvSpPr>
        <p:spPr>
          <a:xfrm>
            <a:off x="585216" y="2929193"/>
            <a:ext cx="7973568" cy="1754326"/>
          </a:xfrm>
          <a:custGeom>
            <a:avLst/>
            <a:gdLst/>
            <a:ahLst/>
            <a:cxnLst/>
            <a:rect l="l" t="t" r="r" b="b"/>
            <a:pathLst>
              <a:path w="7973568" h="1188720">
                <a:moveTo>
                  <a:pt x="0" y="0"/>
                </a:moveTo>
                <a:lnTo>
                  <a:pt x="7973568" y="0"/>
                </a:lnTo>
                <a:lnTo>
                  <a:pt x="7973568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ECFEFF"/>
          </a:solidFill>
          <a:ln w="9144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E7ED794-DBB5-D7AB-C8BF-3EC78828BB01}"/>
              </a:ext>
            </a:extLst>
          </p:cNvPr>
          <p:cNvSpPr/>
          <p:nvPr/>
        </p:nvSpPr>
        <p:spPr>
          <a:xfrm>
            <a:off x="585216" y="475488"/>
            <a:ext cx="91440" cy="347472"/>
          </a:xfrm>
          <a:custGeom>
            <a:avLst/>
            <a:gdLst/>
            <a:ahLst/>
            <a:cxnLst/>
            <a:rect l="l" t="t" r="r" b="b"/>
            <a:pathLst>
              <a:path w="91440" h="347472">
                <a:moveTo>
                  <a:pt x="0" y="0"/>
                </a:moveTo>
                <a:lnTo>
                  <a:pt x="91440" y="0"/>
                </a:lnTo>
                <a:lnTo>
                  <a:pt x="91440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BE695D9-3933-FE63-56FF-9F4C934FFF45}"/>
              </a:ext>
            </a:extLst>
          </p:cNvPr>
          <p:cNvSpPr/>
          <p:nvPr/>
        </p:nvSpPr>
        <p:spPr>
          <a:xfrm>
            <a:off x="786384" y="380211"/>
            <a:ext cx="7772400" cy="5255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</a:rPr>
              <a:t>Positional Embedding for </a:t>
            </a:r>
            <a:r>
              <a:rPr lang="en-US" sz="2160" b="1" dirty="0" err="1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</a:rPr>
              <a:t>UniVideo</a:t>
            </a:r>
            <a:endParaRPr lang="en-US" sz="1152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C88A0C7-4611-CBC5-1117-3D15FF284B4B}"/>
              </a:ext>
            </a:extLst>
          </p:cNvPr>
          <p:cNvSpPr/>
          <p:nvPr/>
        </p:nvSpPr>
        <p:spPr>
          <a:xfrm>
            <a:off x="585216" y="2920854"/>
            <a:ext cx="73152" cy="1754326"/>
          </a:xfrm>
          <a:custGeom>
            <a:avLst/>
            <a:gdLst/>
            <a:ahLst/>
            <a:cxnLst/>
            <a:rect l="l" t="t" r="r" b="b"/>
            <a:pathLst>
              <a:path w="73152" h="1188720">
                <a:moveTo>
                  <a:pt x="0" y="0"/>
                </a:moveTo>
                <a:lnTo>
                  <a:pt x="73152" y="0"/>
                </a:lnTo>
                <a:lnTo>
                  <a:pt x="73152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542158-F005-6275-8DBA-608E4DB3905E}"/>
              </a:ext>
            </a:extLst>
          </p:cNvPr>
          <p:cNvSpPr txBox="1"/>
          <p:nvPr/>
        </p:nvSpPr>
        <p:spPr>
          <a:xfrm>
            <a:off x="786384" y="1357109"/>
            <a:ext cx="2476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CA" altLang="zh-CN" dirty="0">
                <a:highlight>
                  <a:srgbClr val="EEF3FF"/>
                </a:highlight>
              </a:rPr>
              <a:t>Content = </a:t>
            </a:r>
            <a:r>
              <a:rPr lang="en-US" altLang="zh-CN" dirty="0">
                <a:highlight>
                  <a:srgbClr val="EEF3FF"/>
                </a:highlight>
              </a:rPr>
              <a:t>[0.2, -1.3, ...] </a:t>
            </a:r>
            <a:endParaRPr kumimoji="1" lang="zh-CN" altLang="en-US" dirty="0">
              <a:highlight>
                <a:srgbClr val="EEF3FF"/>
              </a:highlight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D7DE069-7E92-F9F8-17B8-A68579AD3F20}"/>
              </a:ext>
            </a:extLst>
          </p:cNvPr>
          <p:cNvSpPr txBox="1"/>
          <p:nvPr/>
        </p:nvSpPr>
        <p:spPr>
          <a:xfrm>
            <a:off x="3262745" y="1357109"/>
            <a:ext cx="1842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zh-CN" dirty="0"/>
              <a:t>(t=2, h=10, w=20)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30036D5-DCF6-BBC2-62B3-D9D49245ACBC}"/>
              </a:ext>
            </a:extLst>
          </p:cNvPr>
          <p:cNvSpPr txBox="1"/>
          <p:nvPr/>
        </p:nvSpPr>
        <p:spPr>
          <a:xfrm>
            <a:off x="786384" y="2100152"/>
            <a:ext cx="6154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CN" dirty="0">
                <a:highlight>
                  <a:srgbClr val="C0C0C0"/>
                </a:highlight>
              </a:rPr>
              <a:t>embedding = content  + </a:t>
            </a:r>
            <a:r>
              <a:rPr lang="en-CA" altLang="zh-CN" dirty="0" err="1">
                <a:highlight>
                  <a:srgbClr val="C0C0C0"/>
                </a:highlight>
              </a:rPr>
              <a:t>pos_t</a:t>
            </a:r>
            <a:r>
              <a:rPr lang="en-CA" altLang="zh-CN" dirty="0">
                <a:highlight>
                  <a:srgbClr val="C0C0C0"/>
                </a:highlight>
              </a:rPr>
              <a:t>(2)  + </a:t>
            </a:r>
            <a:r>
              <a:rPr lang="en-CA" altLang="zh-CN" dirty="0" err="1">
                <a:highlight>
                  <a:srgbClr val="C0C0C0"/>
                </a:highlight>
              </a:rPr>
              <a:t>pos_h</a:t>
            </a:r>
            <a:r>
              <a:rPr lang="en-CA" altLang="zh-CN" dirty="0">
                <a:highlight>
                  <a:srgbClr val="C0C0C0"/>
                </a:highlight>
              </a:rPr>
              <a:t>(10)  + </a:t>
            </a:r>
            <a:r>
              <a:rPr lang="en-CA" altLang="zh-CN" dirty="0" err="1">
                <a:highlight>
                  <a:srgbClr val="C0C0C0"/>
                </a:highlight>
              </a:rPr>
              <a:t>pos_w</a:t>
            </a:r>
            <a:r>
              <a:rPr lang="en-CA" altLang="zh-CN" dirty="0">
                <a:highlight>
                  <a:srgbClr val="C0C0C0"/>
                </a:highlight>
              </a:rPr>
              <a:t>(20)</a:t>
            </a:r>
            <a:endParaRPr kumimoji="1" lang="zh-CN" altLang="en-US" dirty="0">
              <a:highlight>
                <a:srgbClr val="C0C0C0"/>
              </a:highlight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886BBCCF-512B-F1BA-9914-6B5DD2431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060" y="3097185"/>
            <a:ext cx="73438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Each token is encoded with a 3D position (t, h, w). 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Temporal position is embedded into the token, not provided as a separate input.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This allows the model to distinguish condition frames from target frames.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78A8B4-9081-A430-3E45-97386E27C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916" y="1274191"/>
            <a:ext cx="3858014" cy="63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01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85216" y="475488"/>
            <a:ext cx="91440" cy="347472"/>
          </a:xfrm>
          <a:custGeom>
            <a:avLst/>
            <a:gdLst/>
            <a:ahLst/>
            <a:cxnLst/>
            <a:rect l="l" t="t" r="r" b="b"/>
            <a:pathLst>
              <a:path w="91440" h="347472">
                <a:moveTo>
                  <a:pt x="0" y="0"/>
                </a:moveTo>
                <a:lnTo>
                  <a:pt x="91440" y="0"/>
                </a:lnTo>
                <a:lnTo>
                  <a:pt x="91440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786384" y="438912"/>
            <a:ext cx="77724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8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Results: Understanding and Generation</a:t>
            </a:r>
            <a:endParaRPr lang="en-US" sz="1152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5A04998-B058-CC2A-7AC3-ECBD253FB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087" y="944807"/>
            <a:ext cx="5711826" cy="41986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In-Context Video Generation Results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70432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96C964D-3A21-ADAC-C88D-08B178B6E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020" y="1328166"/>
            <a:ext cx="5837959" cy="35289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5632704" cy="58015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In-Context Video Editing Results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70432"/>
            <a:ext cx="4754880" cy="27432"/>
          </a:xfrm>
          <a:custGeom>
            <a:avLst/>
            <a:gdLst/>
            <a:ahLst/>
            <a:cxnLst/>
            <a:rect l="l" t="t" r="r" b="b"/>
            <a:pathLst>
              <a:path w="4754880" h="27432">
                <a:moveTo>
                  <a:pt x="0" y="0"/>
                </a:moveTo>
                <a:lnTo>
                  <a:pt x="4754880" y="0"/>
                </a:lnTo>
                <a:lnTo>
                  <a:pt x="475488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737EBB2-1755-7672-3DF9-2C9F42992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97864"/>
            <a:ext cx="7772400" cy="38017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">
            <a:extLst>
              <a:ext uri="{FF2B5EF4-FFF2-40B4-BE49-F238E27FC236}">
                <a16:creationId xmlns:a16="http://schemas.microsoft.com/office/drawing/2014/main" id="{AB70AA12-05BA-7BBE-7D06-E95467D184E0}"/>
              </a:ext>
            </a:extLst>
          </p:cNvPr>
          <p:cNvSpPr/>
          <p:nvPr/>
        </p:nvSpPr>
        <p:spPr>
          <a:xfrm>
            <a:off x="4492698" y="1124842"/>
            <a:ext cx="3998160" cy="2132090"/>
          </a:xfrm>
          <a:custGeom>
            <a:avLst/>
            <a:gdLst/>
            <a:ahLst/>
            <a:cxnLst/>
            <a:rect l="l" t="t" r="r" b="b"/>
            <a:pathLst>
              <a:path w="2468880" h="1371600">
                <a:moveTo>
                  <a:pt x="0" y="0"/>
                </a:moveTo>
                <a:lnTo>
                  <a:pt x="2468880" y="0"/>
                </a:lnTo>
                <a:lnTo>
                  <a:pt x="246888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FFF7E8"/>
          </a:solidFill>
          <a:ln/>
        </p:spPr>
        <p:txBody>
          <a:bodyPr/>
          <a:lstStyle/>
          <a:p>
            <a:endParaRPr lang="en-CA" altLang="zh-CN" dirty="0"/>
          </a:p>
          <a:p>
            <a:endParaRPr lang="en-CA" altLang="zh-CN" dirty="0"/>
          </a:p>
          <a:p>
            <a:endParaRPr lang="zh-CN" altLang="en-US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FC5EC301-0B5A-188C-ED32-5BE809F14124}"/>
              </a:ext>
            </a:extLst>
          </p:cNvPr>
          <p:cNvSpPr/>
          <p:nvPr/>
        </p:nvSpPr>
        <p:spPr>
          <a:xfrm>
            <a:off x="653142" y="1124842"/>
            <a:ext cx="3718561" cy="2132089"/>
          </a:xfrm>
          <a:custGeom>
            <a:avLst/>
            <a:gdLst/>
            <a:ahLst/>
            <a:cxnLst/>
            <a:rect l="l" t="t" r="r" b="b"/>
            <a:pathLst>
              <a:path w="1645920" h="1005840">
                <a:moveTo>
                  <a:pt x="0" y="0"/>
                </a:moveTo>
                <a:lnTo>
                  <a:pt x="1645920" y="0"/>
                </a:lnTo>
                <a:lnTo>
                  <a:pt x="16459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E0F2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845B8679-8E18-6B50-C9B9-468F6EDC252B}"/>
              </a:ext>
            </a:extLst>
          </p:cNvPr>
          <p:cNvSpPr/>
          <p:nvPr/>
        </p:nvSpPr>
        <p:spPr>
          <a:xfrm>
            <a:off x="640080" y="1070812"/>
            <a:ext cx="4023360" cy="40709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Contribution</a:t>
            </a:r>
            <a:endParaRPr lang="en-US" sz="1152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66227BEA-8C5B-0D44-946B-A3FE34804206}"/>
              </a:ext>
            </a:extLst>
          </p:cNvPr>
          <p:cNvSpPr/>
          <p:nvPr/>
        </p:nvSpPr>
        <p:spPr>
          <a:xfrm>
            <a:off x="4486167" y="1522599"/>
            <a:ext cx="3839556" cy="12618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r>
              <a:rPr lang="en-CA" altLang="zh-CN" sz="1400" dirty="0"/>
              <a:t>• Strong </a:t>
            </a:r>
            <a:r>
              <a:rPr lang="en-CA" altLang="zh-CN" sz="1400" b="1" dirty="0"/>
              <a:t>multimodal alignment</a:t>
            </a:r>
            <a:r>
              <a:rPr lang="en-CA" altLang="zh-CN" sz="1400" dirty="0"/>
              <a:t> with frozen MLLM </a:t>
            </a:r>
          </a:p>
          <a:p>
            <a:r>
              <a:rPr lang="en-CA" altLang="zh-CN" sz="1400" dirty="0"/>
              <a:t>• Handles </a:t>
            </a:r>
            <a:r>
              <a:rPr lang="en-CA" altLang="zh-CN" sz="1400" b="1" dirty="0"/>
              <a:t>diverse tasks with one shared architecture</a:t>
            </a:r>
            <a:r>
              <a:rPr lang="en-CA" altLang="zh-CN" sz="1400" dirty="0"/>
              <a:t> </a:t>
            </a:r>
          </a:p>
          <a:p>
            <a:r>
              <a:rPr lang="en-CA" altLang="zh-CN" sz="1400" dirty="0"/>
              <a:t>• Effective use of </a:t>
            </a:r>
            <a:r>
              <a:rPr lang="en-CA" altLang="zh-CN" sz="1400" b="1" dirty="0"/>
              <a:t>multiple visual conditions</a:t>
            </a:r>
            <a:r>
              <a:rPr lang="en-CA" altLang="zh-CN" sz="1400" dirty="0"/>
              <a:t> </a:t>
            </a:r>
          </a:p>
          <a:p>
            <a:r>
              <a:rPr lang="en-CA" altLang="zh-CN" sz="1400" dirty="0"/>
              <a:t>• Better </a:t>
            </a:r>
            <a:r>
              <a:rPr lang="en-CA" altLang="zh-CN" sz="1400" b="1" dirty="0"/>
              <a:t>instruction following and consistency</a:t>
            </a:r>
            <a:r>
              <a:rPr lang="en-CA" altLang="zh-CN" sz="1400" dirty="0"/>
              <a:t> 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B22259B4-FE3F-E332-362B-2F37B7E15FB6}"/>
              </a:ext>
            </a:extLst>
          </p:cNvPr>
          <p:cNvSpPr/>
          <p:nvPr/>
        </p:nvSpPr>
        <p:spPr>
          <a:xfrm>
            <a:off x="4565469" y="1477911"/>
            <a:ext cx="4023360" cy="38324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endParaRPr lang="en-US" sz="1152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0C23803-7C98-9047-0885-0222862B186A}"/>
              </a:ext>
            </a:extLst>
          </p:cNvPr>
          <p:cNvSpPr/>
          <p:nvPr/>
        </p:nvSpPr>
        <p:spPr>
          <a:xfrm>
            <a:off x="640080" y="3452979"/>
            <a:ext cx="7850778" cy="1363463"/>
          </a:xfrm>
          <a:custGeom>
            <a:avLst/>
            <a:gdLst/>
            <a:ahLst/>
            <a:cxnLst/>
            <a:rect l="l" t="t" r="r" b="b"/>
            <a:pathLst>
              <a:path w="3840480" h="420624">
                <a:moveTo>
                  <a:pt x="0" y="0"/>
                </a:moveTo>
                <a:lnTo>
                  <a:pt x="3840480" y="0"/>
                </a:lnTo>
                <a:lnTo>
                  <a:pt x="3840480" y="420624"/>
                </a:lnTo>
                <a:lnTo>
                  <a:pt x="0" y="420624"/>
                </a:ln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r>
              <a:rPr lang="en-US" altLang="zh-CN" sz="13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</a:rPr>
              <a:t>Limitations</a:t>
            </a:r>
          </a:p>
          <a:p>
            <a:endParaRPr lang="en-US" altLang="zh-CN" sz="1300" b="1" dirty="0">
              <a:solidFill>
                <a:srgbClr val="166534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CA" altLang="zh-CN" sz="1400" dirty="0"/>
              <a:t>• </a:t>
            </a:r>
            <a:r>
              <a:rPr lang="en-US" altLang="zh-CN" sz="1400" dirty="0"/>
              <a:t>Relies on latent (2D) representation, limited 3D reasoning</a:t>
            </a:r>
          </a:p>
          <a:p>
            <a:r>
              <a:rPr lang="en-CA" altLang="zh-CN" sz="1400" dirty="0"/>
              <a:t>• </a:t>
            </a:r>
            <a:r>
              <a:rPr lang="en-US" altLang="zh-CN" sz="1400" dirty="0"/>
              <a:t>Performance depends on MLLM quality and alignment</a:t>
            </a:r>
          </a:p>
          <a:p>
            <a:r>
              <a:rPr lang="en-CA" altLang="zh-CN" sz="1400" dirty="0"/>
              <a:t>• </a:t>
            </a:r>
            <a:r>
              <a:rPr lang="en-US" altLang="zh-CN" sz="1400" dirty="0"/>
              <a:t>High computational cost for long video sequences</a:t>
            </a:r>
          </a:p>
          <a:p>
            <a:r>
              <a:rPr lang="en-CA" altLang="zh-CN" sz="1400" dirty="0"/>
              <a:t>• </a:t>
            </a:r>
            <a:r>
              <a:rPr lang="en-US" altLang="zh-CN" sz="1400" dirty="0"/>
              <a:t>Still limited in fine-grained control / precision editing</a:t>
            </a:r>
            <a:br>
              <a:rPr lang="en-US" altLang="zh-CN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</a:rPr>
            </a:br>
            <a:endParaRPr lang="zh-CN" alt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0488E9E7-B857-EA4B-7297-86DF32BBD72D}"/>
              </a:ext>
            </a:extLst>
          </p:cNvPr>
          <p:cNvSpPr/>
          <p:nvPr/>
        </p:nvSpPr>
        <p:spPr>
          <a:xfrm>
            <a:off x="548640" y="231880"/>
            <a:ext cx="8046720" cy="5983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CA" altLang="zh-CN" sz="2400" b="1" dirty="0"/>
              <a:t>Conclusion</a:t>
            </a:r>
            <a:endParaRPr lang="en-US" sz="1152" b="1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E60E1DF6-AE84-F37B-47DF-633E5C557316}"/>
              </a:ext>
            </a:extLst>
          </p:cNvPr>
          <p:cNvSpPr/>
          <p:nvPr/>
        </p:nvSpPr>
        <p:spPr>
          <a:xfrm>
            <a:off x="653142" y="844314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C71FF40-A1C4-3DEC-5B99-F7E921CBE3C3}"/>
              </a:ext>
            </a:extLst>
          </p:cNvPr>
          <p:cNvSpPr/>
          <p:nvPr/>
        </p:nvSpPr>
        <p:spPr>
          <a:xfrm>
            <a:off x="4572000" y="1124217"/>
            <a:ext cx="4023360" cy="40709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</a:rPr>
              <a:t>Key Strength</a:t>
            </a:r>
            <a:endParaRPr lang="en-US" sz="1152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E81A57E5-88FE-7919-2C41-4AC0824F1048}"/>
              </a:ext>
            </a:extLst>
          </p:cNvPr>
          <p:cNvSpPr/>
          <p:nvPr/>
        </p:nvSpPr>
        <p:spPr>
          <a:xfrm>
            <a:off x="792480" y="1564160"/>
            <a:ext cx="3839556" cy="169277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r>
              <a:rPr lang="en-CA" altLang="zh-CN" sz="1400" dirty="0"/>
              <a:t>• A unified framework for </a:t>
            </a:r>
            <a:r>
              <a:rPr lang="en-CA" altLang="zh-CN" sz="1400" b="1" dirty="0"/>
              <a:t>video understanding, generation, and editing</a:t>
            </a:r>
            <a:r>
              <a:rPr lang="en-CA" altLang="zh-CN" sz="1400" dirty="0"/>
              <a:t> </a:t>
            </a:r>
          </a:p>
          <a:p>
            <a:r>
              <a:rPr lang="en-CA" altLang="zh-CN" sz="1400" dirty="0"/>
              <a:t>• Reformulates generation as </a:t>
            </a:r>
            <a:r>
              <a:rPr lang="en-CA" altLang="zh-CN" sz="1400" b="1" dirty="0"/>
              <a:t>multimodal token modeling</a:t>
            </a:r>
            <a:r>
              <a:rPr lang="en-CA" altLang="zh-CN" sz="1400" dirty="0"/>
              <a:t> </a:t>
            </a:r>
          </a:p>
          <a:p>
            <a:r>
              <a:rPr lang="en-CA" altLang="zh-CN" sz="1400" dirty="0"/>
              <a:t>• Introduces </a:t>
            </a:r>
            <a:r>
              <a:rPr lang="en-CA" altLang="zh-CN" sz="1400" b="1" dirty="0" err="1"/>
              <a:t>MMDiT</a:t>
            </a:r>
            <a:r>
              <a:rPr lang="en-CA" altLang="zh-CN" sz="1400" b="1" dirty="0"/>
              <a:t> with joint self-attention</a:t>
            </a:r>
            <a:r>
              <a:rPr lang="en-CA" altLang="zh-CN" sz="1400" dirty="0"/>
              <a:t> across conditions and targets </a:t>
            </a:r>
          </a:p>
          <a:p>
            <a:r>
              <a:rPr lang="en-CA" altLang="zh-CN" sz="1400" dirty="0"/>
              <a:t>• Enables </a:t>
            </a:r>
            <a:r>
              <a:rPr lang="en-CA" altLang="zh-CN" sz="1400" b="1" dirty="0"/>
              <a:t>mask-free in-context video editing</a:t>
            </a:r>
            <a:r>
              <a:rPr lang="en-CA" altLang="zh-CN" sz="1400" dirty="0"/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5BEB2-1060-990E-AE52-EC938A894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291BD537-B126-2E7F-AED1-DF960049D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21" y="769020"/>
            <a:ext cx="8794558" cy="3819766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09C9F558-C6E7-FA3D-A2A7-DC01E2DAB356}"/>
              </a:ext>
            </a:extLst>
          </p:cNvPr>
          <p:cNvSpPr/>
          <p:nvPr/>
        </p:nvSpPr>
        <p:spPr>
          <a:xfrm>
            <a:off x="247189" y="91203"/>
            <a:ext cx="8046720" cy="5983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60"/>
              </a:spcBef>
            </a:pPr>
            <a:r>
              <a:rPr lang="en-CA" altLang="zh-CN" sz="2400" b="1" dirty="0"/>
              <a:t>Combine with </a:t>
            </a:r>
            <a:r>
              <a:rPr lang="en-CA" altLang="zh-CN" sz="2400" b="1" dirty="0" err="1"/>
              <a:t>SketchMol</a:t>
            </a:r>
            <a:endParaRPr lang="en-US" sz="1152" b="1" dirty="0"/>
          </a:p>
        </p:txBody>
      </p:sp>
    </p:spTree>
    <p:extLst>
      <p:ext uri="{BB962C8B-B14F-4D97-AF65-F5344CB8AC3E}">
        <p14:creationId xmlns:p14="http://schemas.microsoft.com/office/powerpoint/2010/main" val="2980297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884</Words>
  <Application>Microsoft Macintosh PowerPoint</Application>
  <PresentationFormat>全屏显示(16:9)</PresentationFormat>
  <Paragraphs>127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Aining Wen</cp:lastModifiedBy>
  <cp:revision>11</cp:revision>
  <dcterms:created xsi:type="dcterms:W3CDTF">2026-04-07T17:02:47Z</dcterms:created>
  <dcterms:modified xsi:type="dcterms:W3CDTF">2026-04-17T06:13:55Z</dcterms:modified>
</cp:coreProperties>
</file>