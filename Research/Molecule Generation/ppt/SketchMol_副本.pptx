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1" r:id="rId4"/>
    <p:sldId id="272" r:id="rId5"/>
    <p:sldId id="274" r:id="rId6"/>
    <p:sldId id="276" r:id="rId7"/>
    <p:sldId id="278" r:id="rId8"/>
    <p:sldId id="277" r:id="rId9"/>
    <p:sldId id="261" r:id="rId10"/>
    <p:sldId id="281" r:id="rId11"/>
    <p:sldId id="262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/>
    <p:restoredTop sz="63950"/>
  </p:normalViewPr>
  <p:slideViewPr>
    <p:cSldViewPr snapToGrid="0" snapToObjects="1">
      <p:cViewPr>
        <p:scale>
          <a:sx n="140" d="100"/>
          <a:sy n="140" d="100"/>
        </p:scale>
        <p:origin x="648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81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Today I will introduce a paper called</a:t>
            </a:r>
            <a:br>
              <a:rPr lang="en-CA" altLang="zh-CN" dirty="0"/>
            </a:br>
            <a:r>
              <a:rPr lang="en-CA" altLang="zh-CN" b="1" dirty="0" err="1"/>
              <a:t>SketchMol</a:t>
            </a:r>
            <a:r>
              <a:rPr lang="en-CA" altLang="zh-CN" b="1" dirty="0"/>
              <a:t>: image-based generation for molecule design.</a:t>
            </a:r>
            <a:endParaRPr lang="en-CA" altLang="zh-CN" dirty="0"/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let’s look at the background.</a:t>
            </a:r>
          </a:p>
          <a:p>
            <a:r>
              <a:rPr lang="en-CA" altLang="zh-CN" dirty="0"/>
              <a:t>In drug discovery,</a:t>
            </a:r>
            <a:br>
              <a:rPr lang="en-CA" altLang="zh-CN" dirty="0"/>
            </a:br>
            <a:r>
              <a:rPr lang="en-CA" altLang="zh-CN" dirty="0"/>
              <a:t>there is a well-known problem called </a:t>
            </a:r>
            <a:r>
              <a:rPr lang="en-CA" altLang="zh-CN" b="1" dirty="0"/>
              <a:t>Eroom’s law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It means,</a:t>
            </a:r>
            <a:r>
              <a:rPr lang="en-US" altLang="zh-CN" dirty="0"/>
              <a:t> </a:t>
            </a:r>
            <a:r>
              <a:rPr lang="en-CA" altLang="zh-CN" dirty="0"/>
              <a:t>in</a:t>
            </a:r>
            <a:r>
              <a:rPr lang="en-US" altLang="zh-CN" dirty="0"/>
              <a:t> </a:t>
            </a:r>
            <a:r>
              <a:rPr lang="en-CA" altLang="zh-CN" dirty="0"/>
              <a:t>molecule design, the  cost is increasing, the time is increasing  but efficiency is not improving </a:t>
            </a:r>
          </a:p>
          <a:p>
            <a:r>
              <a:rPr lang="en-CA" altLang="zh-CN" dirty="0"/>
              <a:t>So, we need better ways to design molecules faster and better.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Next, let’s look at existing methods.</a:t>
            </a:r>
          </a:p>
          <a:p>
            <a:r>
              <a:rPr lang="en-CA" altLang="zh-CN" dirty="0"/>
              <a:t>There are two main ways to represent molecules:</a:t>
            </a:r>
          </a:p>
          <a:p>
            <a:r>
              <a:rPr lang="en-CA" altLang="zh-CN" b="1" dirty="0"/>
              <a:t>- sequence</a:t>
            </a:r>
            <a:r>
              <a:rPr lang="en-CA" altLang="zh-CN" dirty="0"/>
              <a:t>, like SMILES </a:t>
            </a:r>
          </a:p>
          <a:p>
            <a:r>
              <a:rPr lang="en-CA" altLang="zh-CN" b="1" dirty="0"/>
              <a:t>- graph structure</a:t>
            </a:r>
            <a:r>
              <a:rPr lang="en-CA" altLang="zh-CN" dirty="0"/>
              <a:t> </a:t>
            </a:r>
          </a:p>
          <a:p>
            <a:r>
              <a:rPr lang="en-CA" altLang="zh-CN" dirty="0"/>
              <a:t>Both are useful, but both have limitations.</a:t>
            </a:r>
          </a:p>
          <a:p>
            <a:r>
              <a:rPr lang="en-CA" altLang="zh-CN" dirty="0"/>
              <a:t>For example:</a:t>
            </a:r>
          </a:p>
          <a:p>
            <a:r>
              <a:rPr lang="en-CA" altLang="zh-CN" dirty="0"/>
              <a:t>sequence loses structure information </a:t>
            </a:r>
          </a:p>
          <a:p>
            <a:r>
              <a:rPr lang="en-CA" altLang="zh-CN" dirty="0"/>
              <a:t>graph can be complex and hard to model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this leads to the main idea of this paper:</a:t>
            </a:r>
          </a:p>
          <a:p>
            <a:r>
              <a:rPr lang="en-CA" altLang="zh-CN" dirty="0"/>
              <a:t>Instead of using only sequences or graphs, </a:t>
            </a:r>
            <a:r>
              <a:rPr lang="en-CA" altLang="zh-CN" dirty="0" err="1"/>
              <a:t>SketchMol</a:t>
            </a:r>
            <a:r>
              <a:rPr lang="en-CA" altLang="zh-CN" dirty="0"/>
              <a:t> see molecules as </a:t>
            </a:r>
            <a:r>
              <a:rPr lang="en-CA" altLang="zh-CN" b="1" dirty="0"/>
              <a:t>images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This allows the model to see both local details and the whole structure at the same time.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Now let’s look at the roadmap of this talk.</a:t>
            </a:r>
          </a:p>
          <a:p>
            <a:r>
              <a:rPr lang="en-CA" altLang="zh-CN" dirty="0"/>
              <a:t>First, we explain the problem and motivation.</a:t>
            </a:r>
          </a:p>
          <a:p>
            <a:r>
              <a:rPr lang="en-CA" altLang="zh-CN" dirty="0"/>
              <a:t>Then, we introduce the main idea of </a:t>
            </a:r>
            <a:r>
              <a:rPr lang="en-CA" altLang="zh-CN" dirty="0" err="1"/>
              <a:t>SketchMol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After that, we go through the method and experiments.</a:t>
            </a:r>
          </a:p>
          <a:p>
            <a:r>
              <a:rPr lang="en-CA" altLang="zh-CN" dirty="0"/>
              <a:t>Finally, we discuss what we can learn from this paper.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Now, let’s look at the next question:</a:t>
            </a:r>
            <a:br>
              <a:rPr lang="en-CA" altLang="zh-CN" dirty="0"/>
            </a:br>
            <a:r>
              <a:rPr lang="en-CA" altLang="zh-CN" b="1" dirty="0"/>
              <a:t>Why do we need to move beyond sequences and graphs?</a:t>
            </a:r>
            <a:endParaRPr lang="en-CA" altLang="zh-CN" dirty="0"/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molecule generation needs a better representation.</a:t>
            </a:r>
          </a:p>
          <a:p>
            <a:r>
              <a:rPr lang="en-CA" altLang="zh-CN" dirty="0"/>
              <a:t>It should capture:</a:t>
            </a:r>
          </a:p>
          <a:p>
            <a:r>
              <a:rPr lang="en-CA" altLang="zh-CN" dirty="0"/>
              <a:t>local chemical structure  and the overall structure at the same time.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what do we really need?</a:t>
            </a:r>
          </a:p>
          <a:p>
            <a:r>
              <a:rPr lang="en-CA" altLang="zh-CN" dirty="0"/>
              <a:t>We need two things:</a:t>
            </a:r>
          </a:p>
          <a:p>
            <a:r>
              <a:rPr lang="en-CA" altLang="zh-CN" dirty="0"/>
              <a:t>correct local atoms and bonds  and a clear global structure </a:t>
            </a:r>
          </a:p>
          <a:p>
            <a:r>
              <a:rPr lang="en-CA" altLang="zh-CN" dirty="0"/>
              <a:t>The whole molecule should make sense as one object.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This is why image-based modeling is useful.</a:t>
            </a:r>
          </a:p>
          <a:p>
            <a:r>
              <a:rPr lang="en-CA" altLang="zh-CN" dirty="0"/>
              <a:t>Images can show:</a:t>
            </a:r>
          </a:p>
          <a:p>
            <a:r>
              <a:rPr lang="en-CA" altLang="zh-CN" dirty="0"/>
              <a:t>local details and global layout  at the same time.</a:t>
            </a:r>
          </a:p>
          <a:p>
            <a:r>
              <a:rPr lang="en-CA" altLang="zh-CN" dirty="0"/>
              <a:t>So the model can learn both together.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On the right side, we compare three methods:</a:t>
            </a:r>
          </a:p>
          <a:p>
            <a:r>
              <a:rPr lang="en-CA" altLang="zh-CN" dirty="0"/>
              <a:t>Sequence: simple, but weak on global structure </a:t>
            </a:r>
          </a:p>
          <a:p>
            <a:r>
              <a:rPr lang="en-CA" altLang="zh-CN" dirty="0"/>
              <a:t>Graph: accurate, but complex </a:t>
            </a:r>
          </a:p>
          <a:p>
            <a:r>
              <a:rPr lang="en-CA" altLang="zh-CN" dirty="0"/>
              <a:t>Image: can capture both local and global </a:t>
            </a:r>
          </a:p>
          <a:p>
            <a:endParaRPr lang="en-CA" altLang="zh-CN" dirty="0"/>
          </a:p>
          <a:p>
            <a:r>
              <a:rPr lang="en-CA" altLang="zh-CN" dirty="0"/>
              <a:t>So the underlying hypothesis of this paper is:</a:t>
            </a:r>
          </a:p>
          <a:p>
            <a:r>
              <a:rPr lang="en-CA" altLang="zh-CN" dirty="0"/>
              <a:t>image-based representation can better balance detail and overall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 err="1"/>
              <a:t>问题答疑</a:t>
            </a:r>
            <a:r>
              <a:rPr lang="zh-CN" altLang="en-US" dirty="0"/>
              <a:t>：</a:t>
            </a:r>
            <a:br>
              <a:rPr lang="en-US" dirty="0"/>
            </a:br>
            <a:r>
              <a:rPr lang="en-US" dirty="0"/>
              <a:t>What is the difference between graph and image?</a:t>
            </a:r>
          </a:p>
          <a:p>
            <a:endParaRPr lang="en-US" dirty="0"/>
          </a:p>
          <a:p>
            <a:r>
              <a:rPr lang="en-US" altLang="zh-CN" dirty="0"/>
              <a:t>Graph</a:t>
            </a:r>
            <a:r>
              <a:rPr lang="zh-CN" altLang="en-US" dirty="0"/>
              <a:t> </a:t>
            </a:r>
            <a:r>
              <a:rPr lang="en-CA" altLang="zh-CN" dirty="0"/>
              <a:t>only care about the connection between atoms, it could be a dictionary for example:</a:t>
            </a:r>
          </a:p>
          <a:p>
            <a:r>
              <a:rPr lang="en-CA" dirty="0"/>
              <a:t>{</a:t>
            </a:r>
          </a:p>
          <a:p>
            <a:r>
              <a:rPr lang="en-CA" dirty="0"/>
              <a:t>C: H</a:t>
            </a:r>
          </a:p>
          <a:p>
            <a:r>
              <a:rPr lang="en-CA" dirty="0"/>
              <a:t>O: X</a:t>
            </a:r>
            <a:br>
              <a:rPr lang="en-CA" dirty="0"/>
            </a:br>
            <a:r>
              <a:rPr lang="en-CA" dirty="0"/>
              <a:t>}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AC7F-8294-6A0F-3997-3BBC843A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21B26-1FD3-6B90-0278-DD90F18EB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6F32E-49A7-0015-8561-9C654781F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In traditional methods, we use sequences or graphs.</a:t>
            </a:r>
          </a:p>
          <a:p>
            <a:r>
              <a:rPr lang="en-CA" altLang="zh-CN" dirty="0"/>
              <a:t>But here, we treat a molecule as something we can </a:t>
            </a:r>
            <a:r>
              <a:rPr lang="en-CA" altLang="zh-CN" b="1" dirty="0"/>
              <a:t>see, draw, and edit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what is the main advantage?</a:t>
            </a:r>
          </a:p>
          <a:p>
            <a:r>
              <a:rPr lang="en-CA" altLang="zh-CN" dirty="0"/>
              <a:t>A molecular image can show everything at once:</a:t>
            </a:r>
          </a:p>
          <a:p>
            <a:r>
              <a:rPr lang="en-CA" altLang="zh-CN" dirty="0"/>
              <a:t>- atom types </a:t>
            </a:r>
          </a:p>
          <a:p>
            <a:r>
              <a:rPr lang="en-CA" altLang="zh-CN" dirty="0"/>
              <a:t>- bonds </a:t>
            </a:r>
          </a:p>
          <a:p>
            <a:r>
              <a:rPr lang="en-CA" altLang="zh-CN" dirty="0"/>
              <a:t>and the overall structure </a:t>
            </a:r>
          </a:p>
          <a:p>
            <a:r>
              <a:rPr lang="en-CA" altLang="zh-CN" dirty="0"/>
              <a:t>So we can see the whole molecule in one view.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Next, think about the difference in interface.</a:t>
            </a:r>
          </a:p>
          <a:p>
            <a:r>
              <a:rPr lang="en-CA" altLang="zh-CN" dirty="0"/>
              <a:t>Before, we use symbols, Now, we use images. So one image becomes a workspace for generation and editing.</a:t>
            </a:r>
          </a:p>
          <a:p>
            <a:endParaRPr lang="en-CA" altLang="zh-CN" dirty="0"/>
          </a:p>
          <a:p>
            <a:r>
              <a:rPr lang="en-CA" altLang="zh-CN" dirty="0"/>
              <a:t>This also makes generation easier to understand.</a:t>
            </a:r>
          </a:p>
          <a:p>
            <a:r>
              <a:rPr lang="en-CA" altLang="zh-CN" dirty="0"/>
              <a:t>Instead of building step by step,</a:t>
            </a:r>
            <a:br>
              <a:rPr lang="en-CA" altLang="zh-CN" dirty="0"/>
            </a:br>
            <a:r>
              <a:rPr lang="en-CA" altLang="zh-CN" dirty="0"/>
              <a:t>we can </a:t>
            </a:r>
            <a:r>
              <a:rPr lang="en-CA" altLang="zh-CN" b="1" dirty="0"/>
              <a:t>draw a molecule on a blank canvas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This feels more natural.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And for editing,</a:t>
            </a:r>
          </a:p>
          <a:p>
            <a:r>
              <a:rPr lang="en-CA" altLang="zh-CN" dirty="0"/>
              <a:t>we can select a region,</a:t>
            </a:r>
            <a:br>
              <a:rPr lang="en-CA" altLang="zh-CN" dirty="0"/>
            </a:br>
            <a:r>
              <a:rPr lang="en-CA" altLang="zh-CN" dirty="0"/>
              <a:t>and let the model fill it in.</a:t>
            </a:r>
          </a:p>
          <a:p>
            <a:r>
              <a:rPr lang="en-CA" altLang="zh-CN" dirty="0"/>
              <a:t>So modification becomes simple and direct.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5AC0F-3C0F-BC56-00FA-C1FD92DED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87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871F-07A9-A9D3-A05E-33F00CAD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10FF4-C6D6-077B-1210-A78B0B7E8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575A6-11FB-3A3A-6A06-6F8DF52E4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Now, let’s look at the architecture,</a:t>
            </a:r>
            <a:br>
              <a:rPr lang="en-CA" altLang="zh-CN" dirty="0"/>
            </a:br>
            <a:r>
              <a:rPr lang="en-CA" altLang="zh-CN" dirty="0"/>
              <a:t>starting from the </a:t>
            </a:r>
            <a:r>
              <a:rPr lang="en-CA" altLang="zh-CN" b="1" dirty="0"/>
              <a:t>training stage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we prepare the data.</a:t>
            </a:r>
          </a:p>
          <a:p>
            <a:r>
              <a:rPr lang="en-CA" altLang="zh-CN" dirty="0"/>
              <a:t>We take molecules from datasets, for example, PubChem. Then, we convert each molecule into a </a:t>
            </a:r>
            <a:r>
              <a:rPr lang="en-CA" altLang="zh-CN" b="1" dirty="0"/>
              <a:t>2D image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Next, we preprocess the images.</a:t>
            </a:r>
          </a:p>
          <a:p>
            <a:r>
              <a:rPr lang="en-CA" altLang="zh-CN" dirty="0"/>
              <a:t>We do things like: cropping, resizing , normalization </a:t>
            </a:r>
          </a:p>
          <a:p>
            <a:r>
              <a:rPr lang="en-CA" altLang="zh-CN" dirty="0"/>
              <a:t>So all images have the same format.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After that, we prepare labels for training. These labels can include:</a:t>
            </a:r>
          </a:p>
          <a:p>
            <a:r>
              <a:rPr lang="en-CA" altLang="zh-CN" dirty="0"/>
              <a:t>activity </a:t>
            </a:r>
          </a:p>
          <a:p>
            <a:r>
              <a:rPr lang="en-CA" altLang="zh-CN" dirty="0"/>
              <a:t>molecular properties </a:t>
            </a:r>
          </a:p>
          <a:p>
            <a:r>
              <a:rPr lang="en-CA" altLang="zh-CN" dirty="0"/>
              <a:t>For example: QED, SA, </a:t>
            </a:r>
            <a:r>
              <a:rPr lang="en-CA" altLang="zh-CN" dirty="0" err="1"/>
              <a:t>logP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each training sample has:</a:t>
            </a:r>
          </a:p>
          <a:p>
            <a:r>
              <a:rPr lang="en-CA" altLang="zh-CN" dirty="0"/>
              <a:t>an image </a:t>
            </a:r>
          </a:p>
          <a:p>
            <a:r>
              <a:rPr lang="en-CA" altLang="zh-CN" dirty="0"/>
              <a:t>some condition labels </a:t>
            </a:r>
          </a:p>
          <a:p>
            <a:r>
              <a:rPr lang="en-CA" altLang="zh-CN" dirty="0"/>
              <a:t>and the original molecule (SMILES) </a:t>
            </a:r>
          </a:p>
          <a:p>
            <a:br>
              <a:rPr lang="en-CA" altLang="zh-CN" dirty="0"/>
            </a:br>
            <a:endParaRPr lang="en-CA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6168F-BF48-F34B-0FFF-80A0F8058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66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E335-FDEC-DAA8-8443-3AAA244C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1E558-3748-6AED-8DF6-98100A1F0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1A173-CFE9-DD76-E636-7CD18ACC2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Now, let’s look at the training process.</a:t>
            </a:r>
          </a:p>
          <a:p>
            <a:r>
              <a:rPr lang="en-CA" altLang="zh-CN" dirty="0"/>
              <a:t>The main idea is very simple:</a:t>
            </a:r>
            <a:br>
              <a:rPr lang="en-CA" altLang="zh-CN" dirty="0"/>
            </a:br>
            <a:r>
              <a:rPr lang="en-CA" altLang="zh-CN" b="1" dirty="0"/>
              <a:t>the model learns to predict noise.</a:t>
            </a:r>
            <a:endParaRPr lang="en-CA" altLang="zh-CN" dirty="0"/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we take a clean molecular image.</a:t>
            </a:r>
          </a:p>
          <a:p>
            <a:r>
              <a:rPr lang="en-CA" altLang="zh-CN" dirty="0"/>
              <a:t>Then we encode it into a latent space.</a:t>
            </a:r>
          </a:p>
          <a:p>
            <a:r>
              <a:rPr lang="en-CA" altLang="zh-CN" dirty="0"/>
              <a:t>You can think of this as a compressed version of the image.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Next, we add noise to it.</a:t>
            </a:r>
          </a:p>
          <a:p>
            <a:r>
              <a:rPr lang="en-CA" altLang="zh-CN" dirty="0"/>
              <a:t>We add Gaussian noise with respect to t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We use the denoising </a:t>
            </a:r>
            <a:r>
              <a:rPr lang="en-CA" altLang="zh-CN" b="1" dirty="0"/>
              <a:t>U-Net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It takes three inputs:</a:t>
            </a:r>
          </a:p>
          <a:p>
            <a:r>
              <a:rPr lang="en-CA" altLang="zh-CN" dirty="0"/>
              <a:t>the noisy image </a:t>
            </a:r>
          </a:p>
          <a:p>
            <a:r>
              <a:rPr lang="en-CA" altLang="zh-CN" dirty="0"/>
              <a:t>the time step </a:t>
            </a:r>
          </a:p>
          <a:p>
            <a:r>
              <a:rPr lang="en-CA" altLang="zh-CN" dirty="0"/>
              <a:t>and the condition (like properties)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Then the model outputs: the predicted noise.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During training,</a:t>
            </a:r>
          </a:p>
          <a:p>
            <a:r>
              <a:rPr lang="en-CA" altLang="zh-CN" dirty="0"/>
              <a:t>we compare: the real noise  and the predicted noise  using MSE loss.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the goal is simple:</a:t>
            </a:r>
          </a:p>
          <a:p>
            <a:r>
              <a:rPr lang="en-CA" altLang="zh-CN" dirty="0"/>
              <a:t>make the predicted noise as close as possible to the real noise.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After training, since we can predict the noise we add,  the model is able to remove noise to get a clean molecule image.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0B3B5-17D8-D58E-8A88-31D167B2B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3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DB192-8DC9-CC9D-EA82-D899D972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03EED-C09A-A70D-2B78-2CC1AB504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D3E1C-77C4-E858-5BC1-51D2C3C5A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Now, let’s look at the </a:t>
            </a:r>
            <a:r>
              <a:rPr lang="en-CA" altLang="zh-CN" b="1" dirty="0"/>
              <a:t>generation process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This is how the model creates a new molecule.</a:t>
            </a:r>
          </a:p>
          <a:p>
            <a:endParaRPr lang="en-CA" altLang="zh-CN" dirty="0"/>
          </a:p>
          <a:p>
            <a:r>
              <a:rPr lang="en-CA" altLang="zh-CN" dirty="0"/>
              <a:t>First, we start from </a:t>
            </a:r>
            <a:r>
              <a:rPr lang="en-CA" altLang="zh-CN" b="1" dirty="0"/>
              <a:t>random noise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So at the beginning, there is no structure in </a:t>
            </a:r>
            <a:r>
              <a:rPr lang="en-CA" altLang="zh-CN" dirty="0" err="1"/>
              <a:t>Zt</a:t>
            </a:r>
            <a:r>
              <a:rPr lang="en-CA" altLang="zh-CN" dirty="0"/>
              <a:t> at all.</a:t>
            </a:r>
          </a:p>
          <a:p>
            <a:endParaRPr lang="en-CA" altLang="zh-CN" dirty="0"/>
          </a:p>
          <a:p>
            <a:r>
              <a:rPr lang="en-CA" altLang="zh-CN" dirty="0"/>
              <a:t>Then, we use the U-Net to </a:t>
            </a:r>
            <a:r>
              <a:rPr lang="en-CA" altLang="zh-CN" b="1" dirty="0"/>
              <a:t>predict the noise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And remove a small part of it.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We repeat this step many times:</a:t>
            </a:r>
          </a:p>
          <a:p>
            <a:r>
              <a:rPr lang="en-CA" altLang="zh-CN" dirty="0"/>
              <a:t>predict noise </a:t>
            </a:r>
          </a:p>
          <a:p>
            <a:r>
              <a:rPr lang="en-CA" altLang="zh-CN" dirty="0"/>
              <a:t>remove noise </a:t>
            </a:r>
          </a:p>
          <a:p>
            <a:r>
              <a:rPr lang="en-CA" altLang="zh-CN" dirty="0"/>
              <a:t>step by step.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the latent becomes cleaner and cleaner.</a:t>
            </a:r>
          </a:p>
          <a:p>
            <a:r>
              <a:rPr lang="en-CA" altLang="zh-CN" dirty="0"/>
              <a:t>And it gradually becomes a meaningful structure.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At the end, we get a </a:t>
            </a:r>
            <a:r>
              <a:rPr lang="en-CA" altLang="zh-CN" b="1" dirty="0"/>
              <a:t>clean latent representation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Then we use a </a:t>
            </a:r>
            <a:r>
              <a:rPr lang="en-CA" altLang="zh-CN" b="1" dirty="0"/>
              <a:t>decoder </a:t>
            </a:r>
            <a:r>
              <a:rPr lang="en-CA" altLang="zh-CN" dirty="0"/>
              <a:t>to convert this latent into a </a:t>
            </a:r>
            <a:r>
              <a:rPr lang="en-CA" altLang="zh-CN" b="1" dirty="0"/>
              <a:t>molecular image</a:t>
            </a:r>
            <a:r>
              <a:rPr lang="en-CA" altLang="zh-CN" dirty="0"/>
              <a:t>.</a:t>
            </a:r>
          </a:p>
          <a:p>
            <a:endParaRPr lang="en-CA" altLang="zh-CN" dirty="0"/>
          </a:p>
          <a:p>
            <a:r>
              <a:rPr lang="zh-CN" altLang="en-CA" dirty="0"/>
              <a:t>提问</a:t>
            </a:r>
            <a:r>
              <a:rPr lang="zh-CN" altLang="en-US" dirty="0"/>
              <a:t>：</a:t>
            </a:r>
            <a:br>
              <a:rPr lang="en-CA" altLang="zh-CN" dirty="0"/>
            </a:br>
            <a:r>
              <a:rPr lang="en-CA" altLang="zh-CN" dirty="0"/>
              <a:t>We use latent space because</a:t>
            </a:r>
            <a:br>
              <a:rPr lang="en-CA" altLang="zh-CN" dirty="0"/>
            </a:br>
            <a:r>
              <a:rPr lang="en-CA" altLang="zh-CN" b="1" dirty="0"/>
              <a:t>it is smaller, faster, and easier to model.</a:t>
            </a:r>
            <a:endParaRPr lang="en-CA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EFDDA-91C9-F10A-F21F-0AEB8152B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68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57AEA-A595-C391-0298-91C124D2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70982-4642-F6E4-24DD-FD1F32A33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EFD2E-C153-D072-E8DF-CEBF10A2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Before,</a:t>
            </a:r>
            <a:br>
              <a:rPr lang="en-CA" altLang="zh-CN" dirty="0"/>
            </a:br>
            <a:r>
              <a:rPr lang="en-CA" altLang="zh-CN" dirty="0"/>
              <a:t>the model just generates any molecule.</a:t>
            </a:r>
          </a:p>
          <a:p>
            <a:r>
              <a:rPr lang="en-CA" altLang="zh-CN" dirty="0"/>
              <a:t>But now,</a:t>
            </a:r>
            <a:r>
              <a:rPr lang="zh-CN" altLang="en-US" dirty="0"/>
              <a:t> </a:t>
            </a:r>
            <a:r>
              <a:rPr lang="en-CA" altLang="zh-CN" dirty="0"/>
              <a:t>we want to control what kind of molecule we get.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For example, we may want:</a:t>
            </a:r>
          </a:p>
          <a:p>
            <a:r>
              <a:rPr lang="en-CA" altLang="zh-CN" dirty="0"/>
              <a:t>certain properties or certain activity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how do we do this?</a:t>
            </a:r>
          </a:p>
          <a:p>
            <a:r>
              <a:rPr lang="en-CA" altLang="zh-CN" dirty="0"/>
              <a:t>We add a </a:t>
            </a:r>
            <a:r>
              <a:rPr lang="en-CA" altLang="zh-CN" b="1" dirty="0"/>
              <a:t>condition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This condition can include things like:</a:t>
            </a:r>
          </a:p>
          <a:p>
            <a:r>
              <a:rPr lang="en-CA" altLang="zh-CN" dirty="0" err="1"/>
              <a:t>logP</a:t>
            </a:r>
            <a:r>
              <a:rPr lang="en-CA" altLang="zh-CN" dirty="0"/>
              <a:t> </a:t>
            </a:r>
          </a:p>
          <a:p>
            <a:r>
              <a:rPr lang="en-CA" altLang="zh-CN" dirty="0"/>
              <a:t>QED </a:t>
            </a:r>
          </a:p>
          <a:p>
            <a:r>
              <a:rPr lang="en-CA" altLang="zh-CN" dirty="0"/>
              <a:t>or other properties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Then, we encode the condition</a:t>
            </a:r>
            <a:r>
              <a:rPr lang="zh-CN" altLang="en-US" dirty="0"/>
              <a:t> </a:t>
            </a:r>
            <a:r>
              <a:rPr lang="en-CA" altLang="zh-CN" dirty="0"/>
              <a:t>into a vector representation.</a:t>
            </a:r>
          </a:p>
          <a:p>
            <a:r>
              <a:rPr lang="en-CA" altLang="zh-CN" dirty="0"/>
              <a:t>This vector is injected into the U-Net</a:t>
            </a:r>
            <a:r>
              <a:rPr lang="zh-CN" altLang="en-US" dirty="0"/>
              <a:t> </a:t>
            </a:r>
            <a:r>
              <a:rPr lang="en-CA" altLang="zh-CN" dirty="0"/>
              <a:t>through </a:t>
            </a:r>
            <a:r>
              <a:rPr lang="en-CA" altLang="zh-CN" b="1" dirty="0"/>
              <a:t>cross-attention layers</a:t>
            </a:r>
            <a:r>
              <a:rPr lang="en-CA" altLang="zh-CN" dirty="0"/>
              <a:t>.</a:t>
            </a:r>
          </a:p>
          <a:p>
            <a:endParaRPr lang="en-CA" altLang="zh-CN" dirty="0"/>
          </a:p>
          <a:p>
            <a:r>
              <a:rPr lang="en-CA" altLang="zh-CN" dirty="0"/>
              <a:t>In this way,</a:t>
            </a:r>
            <a:r>
              <a:rPr lang="zh-CN" altLang="en-US" dirty="0"/>
              <a:t> </a:t>
            </a:r>
            <a:r>
              <a:rPr lang="en-CA" altLang="zh-CN" dirty="0"/>
              <a:t>the condition is integrated</a:t>
            </a:r>
            <a:r>
              <a:rPr lang="zh-CN" altLang="en-US" dirty="0"/>
              <a:t> </a:t>
            </a:r>
            <a:r>
              <a:rPr lang="en-CA" altLang="zh-CN" dirty="0"/>
              <a:t>into the denoising process.</a:t>
            </a:r>
          </a:p>
          <a:p>
            <a:r>
              <a:rPr lang="en-CA" altLang="zh-CN" dirty="0"/>
              <a:t>At each step,</a:t>
            </a:r>
            <a:r>
              <a:rPr lang="zh-CN" altLang="en-US" dirty="0"/>
              <a:t> </a:t>
            </a:r>
            <a:r>
              <a:rPr lang="en-CA" altLang="zh-CN" dirty="0"/>
              <a:t>the model not only predicts noise,</a:t>
            </a:r>
            <a:r>
              <a:rPr lang="zh-CN" altLang="en-US" dirty="0"/>
              <a:t> </a:t>
            </a:r>
            <a:r>
              <a:rPr lang="en-CA" altLang="zh-CN" dirty="0"/>
              <a:t>but also adjusts its prediction</a:t>
            </a:r>
            <a:r>
              <a:rPr lang="zh-CN" altLang="en-US" dirty="0"/>
              <a:t> </a:t>
            </a:r>
            <a:r>
              <a:rPr lang="en-CA" altLang="zh-CN" dirty="0"/>
              <a:t>based on the condition.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the generation is guided</a:t>
            </a:r>
            <a:r>
              <a:rPr lang="zh-CN" altLang="en-US" dirty="0"/>
              <a:t> </a:t>
            </a:r>
            <a:r>
              <a:rPr lang="en-CA" altLang="zh-CN" dirty="0"/>
              <a:t>toward the desired properties.</a:t>
            </a:r>
          </a:p>
          <a:p>
            <a:endParaRPr lang="en-CA" altLang="zh-CN" dirty="0"/>
          </a:p>
          <a:p>
            <a:endParaRPr lang="en-CA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A" dirty="0"/>
              <a:t>提问</a:t>
            </a:r>
            <a:r>
              <a:rPr lang="zh-CN" altLang="en-US" dirty="0"/>
              <a:t>：</a:t>
            </a:r>
            <a:br>
              <a:rPr lang="en-CA" altLang="zh-CN" dirty="0"/>
            </a:br>
            <a:r>
              <a:rPr lang="en-CA" altLang="zh-CN" dirty="0"/>
              <a:t>What is the Conditional Encoder?</a:t>
            </a:r>
            <a:br>
              <a:rPr lang="en-CA" altLang="zh-CN" dirty="0"/>
            </a:br>
            <a:r>
              <a:rPr lang="en-CA" altLang="zh-CN" dirty="0"/>
              <a:t>It might be a MLP or a embedding layer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zh-CN" dirty="0"/>
              <a:t>The conditional encoder maps condition values into embeddings</a:t>
            </a:r>
          </a:p>
          <a:p>
            <a:br>
              <a:rPr lang="en-CA" altLang="zh-CN" dirty="0"/>
            </a:br>
            <a:endParaRPr lang="en-CA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7F90-0D9C-31A5-B903-3A3F9933E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83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1B3C-7C4D-255C-8D97-0CBCB1D7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3DDBD-BC15-23DF-D0F6-E2C207A74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39BD3-DEB0-9F60-E5F8-65F4F4979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Now, let’s look at </a:t>
            </a:r>
            <a:r>
              <a:rPr lang="en-CA" altLang="zh-CN" b="1" dirty="0"/>
              <a:t>local molecule editing</a:t>
            </a:r>
            <a:r>
              <a:rPr lang="en-CA" altLang="zh-CN" dirty="0"/>
              <a:t>,</a:t>
            </a:r>
            <a:r>
              <a:rPr lang="zh-CN" altLang="en-US" dirty="0"/>
              <a:t> </a:t>
            </a:r>
            <a:r>
              <a:rPr lang="en-CA" altLang="zh-CN" dirty="0"/>
              <a:t>using </a:t>
            </a:r>
            <a:r>
              <a:rPr lang="en-CA" altLang="zh-CN" b="1" dirty="0"/>
              <a:t>inpainting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 idea is simple:</a:t>
            </a:r>
          </a:p>
          <a:p>
            <a:r>
              <a:rPr lang="en-CA" altLang="zh-CN" dirty="0"/>
              <a:t>we do not change the whole molecule,</a:t>
            </a:r>
            <a:r>
              <a:rPr lang="zh-CN" altLang="en-US" dirty="0"/>
              <a:t> </a:t>
            </a:r>
            <a:r>
              <a:rPr lang="en-CA" altLang="zh-CN" dirty="0"/>
              <a:t>we only modify a </a:t>
            </a:r>
            <a:r>
              <a:rPr lang="en-CA" altLang="zh-CN" b="1" dirty="0"/>
              <a:t>specific region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we take a molecular image,</a:t>
            </a:r>
            <a:r>
              <a:rPr lang="zh-CN" altLang="en-US" dirty="0"/>
              <a:t> </a:t>
            </a:r>
            <a:r>
              <a:rPr lang="en-CA" altLang="zh-CN" dirty="0"/>
              <a:t>and encode it into a </a:t>
            </a:r>
            <a:r>
              <a:rPr lang="en-CA" altLang="zh-CN" b="1" dirty="0"/>
              <a:t>latent representation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Then, we define a </a:t>
            </a:r>
            <a:r>
              <a:rPr lang="en-CA" altLang="zh-CN" b="1" dirty="0"/>
              <a:t>mask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This mask tells the model</a:t>
            </a:r>
            <a:r>
              <a:rPr lang="zh-CN" altLang="en-US" dirty="0"/>
              <a:t> </a:t>
            </a:r>
            <a:r>
              <a:rPr lang="en-CA" altLang="zh-CN" dirty="0"/>
              <a:t>which part we want to change.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Next, we add noise</a:t>
            </a:r>
            <a:r>
              <a:rPr lang="zh-CN" altLang="en-US" dirty="0"/>
              <a:t> </a:t>
            </a:r>
            <a:r>
              <a:rPr lang="en-CA" altLang="zh-CN" dirty="0"/>
              <a:t>only to the masked region.</a:t>
            </a:r>
          </a:p>
          <a:p>
            <a:r>
              <a:rPr lang="en-CA" altLang="zh-CN" dirty="0"/>
              <a:t>The rest of the molecule</a:t>
            </a:r>
            <a:r>
              <a:rPr lang="zh-CN" altLang="en-US" dirty="0"/>
              <a:t> </a:t>
            </a:r>
            <a:r>
              <a:rPr lang="en-CA" altLang="zh-CN" dirty="0"/>
              <a:t>remains unchanged.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Then, we run the diffusion process.</a:t>
            </a:r>
          </a:p>
          <a:p>
            <a:r>
              <a:rPr lang="en-CA" altLang="zh-CN" dirty="0"/>
              <a:t>At each step:</a:t>
            </a:r>
          </a:p>
          <a:p>
            <a:r>
              <a:rPr lang="en-CA" altLang="zh-CN" dirty="0"/>
              <a:t>the model predicts noise </a:t>
            </a:r>
          </a:p>
          <a:p>
            <a:r>
              <a:rPr lang="en-CA" altLang="zh-CN" dirty="0"/>
              <a:t>and updates the masked region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At the same time,</a:t>
            </a:r>
            <a:r>
              <a:rPr lang="zh-CN" altLang="en-US" dirty="0"/>
              <a:t> </a:t>
            </a:r>
            <a:r>
              <a:rPr lang="en-CA" altLang="zh-CN" dirty="0"/>
              <a:t>the unmasked region is reset</a:t>
            </a:r>
            <a:r>
              <a:rPr lang="zh-CN" altLang="en-US" dirty="0"/>
              <a:t> </a:t>
            </a:r>
            <a:r>
              <a:rPr lang="en-CA" altLang="zh-CN" dirty="0"/>
              <a:t>to the original latent,</a:t>
            </a:r>
            <a:r>
              <a:rPr lang="zh-CN" altLang="en-US" dirty="0"/>
              <a:t> </a:t>
            </a:r>
            <a:r>
              <a:rPr lang="en-CA" altLang="zh-CN" dirty="0"/>
              <a:t>so the overall structure is preserved.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We can also add conditions,</a:t>
            </a:r>
            <a:r>
              <a:rPr lang="zh-CN" altLang="en-US" dirty="0"/>
              <a:t> </a:t>
            </a:r>
            <a:r>
              <a:rPr lang="en-CA" altLang="zh-CN" dirty="0"/>
              <a:t>so the edited part</a:t>
            </a:r>
            <a:r>
              <a:rPr lang="zh-CN" altLang="en-US" dirty="0"/>
              <a:t> </a:t>
            </a:r>
            <a:r>
              <a:rPr lang="en-CA" altLang="zh-CN" dirty="0"/>
              <a:t>follows desired properties.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After several steps,</a:t>
            </a:r>
            <a:r>
              <a:rPr lang="zh-CN" altLang="en-US" dirty="0"/>
              <a:t> </a:t>
            </a:r>
            <a:r>
              <a:rPr lang="en-CA" altLang="zh-CN" dirty="0"/>
              <a:t>the masked region is filled in,</a:t>
            </a:r>
            <a:r>
              <a:rPr lang="zh-CN" altLang="en-US" dirty="0"/>
              <a:t> </a:t>
            </a:r>
            <a:r>
              <a:rPr lang="en-CA" altLang="zh-CN" dirty="0"/>
              <a:t>and we get an </a:t>
            </a:r>
            <a:r>
              <a:rPr lang="en-CA" altLang="zh-CN" b="1" dirty="0"/>
              <a:t>edited molecule</a:t>
            </a:r>
            <a:r>
              <a:rPr lang="en-CA" altLang="zh-C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0C5B3-FF95-CA45-FCED-C6CEFF046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34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Now, let’s talk about </a:t>
            </a:r>
            <a:r>
              <a:rPr lang="en-CA" altLang="zh-CN" b="1" dirty="0"/>
              <a:t>RLME</a:t>
            </a:r>
            <a:r>
              <a:rPr lang="en-CA" altLang="zh-CN" dirty="0"/>
              <a:t>,</a:t>
            </a:r>
            <a:br>
              <a:rPr lang="en-CA" altLang="zh-CN" dirty="0"/>
            </a:br>
            <a:r>
              <a:rPr lang="en-CA" altLang="zh-CN" dirty="0"/>
              <a:t>which stands for Reinforcement Learning from Molecular Expert.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what is the problem?</a:t>
            </a:r>
          </a:p>
          <a:p>
            <a:r>
              <a:rPr lang="en-CA" altLang="zh-CN" dirty="0"/>
              <a:t>In molecule generation,</a:t>
            </a:r>
            <a:r>
              <a:rPr lang="zh-CN" altLang="en-US" dirty="0"/>
              <a:t> </a:t>
            </a:r>
            <a:r>
              <a:rPr lang="en-CA" altLang="zh-CN" b="1" dirty="0"/>
              <a:t>looking correct is not enough.</a:t>
            </a:r>
            <a:endParaRPr lang="en-CA" altLang="zh-CN" dirty="0"/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 generated molecule must be:</a:t>
            </a:r>
          </a:p>
          <a:p>
            <a:r>
              <a:rPr lang="en-CA" altLang="zh-CN" dirty="0"/>
              <a:t>chemically valid </a:t>
            </a:r>
          </a:p>
          <a:p>
            <a:r>
              <a:rPr lang="en-CA" altLang="zh-CN" dirty="0"/>
              <a:t>readable </a:t>
            </a:r>
          </a:p>
          <a:p>
            <a:r>
              <a:rPr lang="en-CA" altLang="zh-CN" dirty="0"/>
              <a:t>and have correct bonding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But diffusion models have a problem.</a:t>
            </a:r>
          </a:p>
          <a:p>
            <a:r>
              <a:rPr lang="en-CA" altLang="zh-CN" dirty="0"/>
              <a:t>They can generate images</a:t>
            </a:r>
            <a:r>
              <a:rPr lang="zh-CN" altLang="en-US" dirty="0"/>
              <a:t> </a:t>
            </a:r>
            <a:r>
              <a:rPr lang="en-CA" altLang="zh-CN" dirty="0"/>
              <a:t>that look good at first glance,</a:t>
            </a:r>
            <a:r>
              <a:rPr lang="zh-CN" altLang="en-US" dirty="0"/>
              <a:t> </a:t>
            </a:r>
            <a:r>
              <a:rPr lang="en-CA" altLang="zh-CN" dirty="0"/>
              <a:t>but are actually </a:t>
            </a:r>
            <a:r>
              <a:rPr lang="en-CA" altLang="zh-CN" b="1" dirty="0"/>
              <a:t>not valid molecules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For example:</a:t>
            </a:r>
          </a:p>
          <a:p>
            <a:r>
              <a:rPr lang="en-CA" altLang="zh-CN" dirty="0"/>
              <a:t>atoms may be unclear </a:t>
            </a:r>
          </a:p>
          <a:p>
            <a:r>
              <a:rPr lang="en-CA" altLang="zh-CN" dirty="0"/>
              <a:t>bonds may be wrong </a:t>
            </a:r>
          </a:p>
          <a:p>
            <a:r>
              <a:rPr lang="en-CA" altLang="zh-CN" dirty="0"/>
              <a:t>structure may not make sense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And here is the key point:</a:t>
            </a:r>
          </a:p>
          <a:p>
            <a:r>
              <a:rPr lang="en-CA" altLang="zh-CN" dirty="0"/>
              <a:t>molecular images are very sensitive.</a:t>
            </a:r>
          </a:p>
          <a:p>
            <a:r>
              <a:rPr lang="en-CA" altLang="zh-CN" dirty="0"/>
              <a:t>Even a small visual error</a:t>
            </a:r>
            <a:r>
              <a:rPr lang="zh-CN" altLang="en-US" dirty="0"/>
              <a:t> </a:t>
            </a:r>
            <a:r>
              <a:rPr lang="en-CA" altLang="zh-CN" dirty="0"/>
              <a:t>can break the chemical meaning.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even if the image looks smooth,</a:t>
            </a:r>
            <a:r>
              <a:rPr lang="zh-CN" altLang="en-US" dirty="0"/>
              <a:t> </a:t>
            </a:r>
            <a:r>
              <a:rPr lang="en-CA" altLang="zh-CN" dirty="0"/>
              <a:t>it may still fail</a:t>
            </a:r>
            <a:r>
              <a:rPr lang="zh-CN" altLang="en-US" dirty="0"/>
              <a:t> </a:t>
            </a:r>
            <a:r>
              <a:rPr lang="en-CA" altLang="zh-CN" dirty="0"/>
              <a:t>when we try to convert it back</a:t>
            </a:r>
            <a:r>
              <a:rPr lang="zh-CN" altLang="en-US" dirty="0"/>
              <a:t> </a:t>
            </a:r>
            <a:r>
              <a:rPr lang="en-CA" altLang="zh-CN" dirty="0"/>
              <a:t>to a real molecule.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5C18-4666-0165-7D80-02B1D24C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95D31-DA15-8209-3E16-E56523183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031D7-5478-0E93-99B3-33E0C02C2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This slide shows the RLME process, which is applied after the initial training stage.</a:t>
            </a:r>
          </a:p>
          <a:p>
            <a:endParaRPr lang="en-CA" altLang="zh-CN" dirty="0"/>
          </a:p>
          <a:p>
            <a:r>
              <a:rPr lang="en-CA" altLang="zh-CN" dirty="0"/>
              <a:t>The core idea is to introduce expert feedback to correct undesirable generations.</a:t>
            </a:r>
          </a:p>
          <a:p>
            <a:br>
              <a:rPr lang="en-CA" altLang="zh-CN" dirty="0"/>
            </a:br>
            <a:r>
              <a:rPr lang="en-CA" altLang="zh-CN" dirty="0"/>
              <a:t>We first sample molecules from the current model, and then evaluate them using external experts, such as property predictors or chemical validity checks like </a:t>
            </a:r>
            <a:r>
              <a:rPr lang="en-CA" altLang="zh-CN" dirty="0" err="1"/>
              <a:t>RDKit</a:t>
            </a:r>
            <a:r>
              <a:rPr lang="en-CA" altLang="zh-CN" dirty="0"/>
              <a:t>.</a:t>
            </a:r>
          </a:p>
          <a:p>
            <a:endParaRPr lang="en-CA" altLang="zh-CN" dirty="0"/>
          </a:p>
          <a:p>
            <a:r>
              <a:rPr lang="en-CA" altLang="zh-CN" dirty="0"/>
              <a:t>These experts are not part of the model, but act as evaluation functions to identify wrong outputs.</a:t>
            </a:r>
          </a:p>
          <a:p>
            <a:endParaRPr lang="en-CA" altLang="zh-CN" dirty="0"/>
          </a:p>
          <a:p>
            <a:r>
              <a:rPr lang="en-CA" altLang="zh-CN" dirty="0"/>
              <a:t>The key step is that we collect these bad examples and mix them back into the training data.</a:t>
            </a:r>
          </a:p>
          <a:p>
            <a:br>
              <a:rPr lang="en-CA" altLang="zh-CN" dirty="0"/>
            </a:br>
            <a:r>
              <a:rPr lang="en-CA" altLang="zh-CN" dirty="0"/>
              <a:t>Typically, about 30% of the training data comes from the bad cases, while 70% remains original data.</a:t>
            </a:r>
          </a:p>
          <a:p>
            <a:br>
              <a:rPr lang="en-CA" altLang="zh-CN" dirty="0"/>
            </a:br>
            <a:r>
              <a:rPr lang="en-CA" altLang="zh-CN" dirty="0"/>
              <a:t>However, by modifying the training distribution, the model learns not only what to generate, but also what to avoid.</a:t>
            </a:r>
            <a:r>
              <a:rPr lang="zh-CN" altLang="en-US" dirty="0"/>
              <a:t> </a:t>
            </a:r>
            <a:br>
              <a:rPr lang="en-US" altLang="zh-CN" dirty="0"/>
            </a:br>
            <a:br>
              <a:rPr lang="en-US" altLang="zh-CN" dirty="0"/>
            </a:br>
            <a:r>
              <a:rPr lang="en-CA" altLang="zh-CN" dirty="0"/>
              <a:t>(Because the bad examples will have larger loss)</a:t>
            </a:r>
          </a:p>
          <a:p>
            <a:endParaRPr lang="en-CA" altLang="zh-CN" dirty="0"/>
          </a:p>
          <a:p>
            <a:r>
              <a:rPr lang="zh-CN" altLang="en-US" dirty="0"/>
              <a:t>模型学的是：</a:t>
            </a:r>
            <a:br>
              <a:rPr lang="zh-CN" altLang="en-US" dirty="0"/>
            </a:br>
            <a:r>
              <a:rPr lang="zh-CN" altLang="en-US" dirty="0"/>
              <a:t>“如果我走到了一个奇怪状态，我应该怎么修正”</a:t>
            </a:r>
            <a:endParaRPr lang="en-CA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90605-E198-FC03-4D4C-B1CDED085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15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Now, let’s look at the results.</a:t>
            </a:r>
          </a:p>
          <a:p>
            <a:r>
              <a:rPr lang="en-CA" altLang="zh-CN" dirty="0"/>
              <a:t>This slide shows the </a:t>
            </a:r>
            <a:r>
              <a:rPr lang="en-CA" altLang="zh-CN" b="1" dirty="0"/>
              <a:t>evaluation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There are three plots here: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</a:t>
            </a:r>
            <a:r>
              <a:rPr lang="en-CA" altLang="zh-CN" b="1" dirty="0"/>
              <a:t>low-quality image rate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Lower is better.</a:t>
            </a:r>
          </a:p>
          <a:p>
            <a:r>
              <a:rPr lang="en-CA" altLang="zh-CN" dirty="0"/>
              <a:t>We can see </a:t>
            </a:r>
            <a:r>
              <a:rPr lang="en-CA" altLang="zh-CN" dirty="0" err="1"/>
              <a:t>SketchMol</a:t>
            </a:r>
            <a:r>
              <a:rPr lang="en-CA" altLang="zh-CN" dirty="0"/>
              <a:t> is very low,</a:t>
            </a:r>
            <a:br>
              <a:rPr lang="en-CA" altLang="zh-CN" dirty="0"/>
            </a:br>
            <a:r>
              <a:rPr lang="en-CA" altLang="zh-CN" dirty="0"/>
              <a:t>around </a:t>
            </a:r>
            <a:r>
              <a:rPr lang="en-CA" altLang="zh-CN" b="1" dirty="0"/>
              <a:t>0.01</a:t>
            </a:r>
            <a:r>
              <a:rPr lang="en-CA" altLang="zh-CN" dirty="0"/>
              <a:t>,</a:t>
            </a:r>
          </a:p>
          <a:p>
            <a:r>
              <a:rPr lang="en-CA" altLang="zh-CN" dirty="0"/>
              <a:t>which means it produces fewer bad images.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Second, </a:t>
            </a:r>
            <a:r>
              <a:rPr lang="en-CA" altLang="zh-CN" b="1" dirty="0"/>
              <a:t>irrational image rate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This means chemically incorrect structures.</a:t>
            </a:r>
          </a:p>
          <a:p>
            <a:r>
              <a:rPr lang="en-CA" altLang="zh-CN" dirty="0"/>
              <a:t>Again, </a:t>
            </a:r>
            <a:r>
              <a:rPr lang="en-CA" altLang="zh-CN" dirty="0" err="1"/>
              <a:t>SketchMol</a:t>
            </a:r>
            <a:r>
              <a:rPr lang="en-CA" altLang="zh-CN" dirty="0"/>
              <a:t> is much lower than other methods.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Third, </a:t>
            </a:r>
            <a:r>
              <a:rPr lang="en-CA" altLang="zh-CN" b="1" dirty="0"/>
              <a:t>valid image rate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Here, higher is better.</a:t>
            </a:r>
          </a:p>
          <a:p>
            <a:r>
              <a:rPr lang="en-CA" altLang="zh-CN" dirty="0" err="1"/>
              <a:t>SketchMol</a:t>
            </a:r>
            <a:r>
              <a:rPr lang="en-CA" altLang="zh-CN" dirty="0"/>
              <a:t> achieves about </a:t>
            </a:r>
            <a:r>
              <a:rPr lang="en-CA" altLang="zh-CN" b="1" dirty="0"/>
              <a:t>0.90</a:t>
            </a:r>
            <a:r>
              <a:rPr lang="en-CA" altLang="zh-CN" dirty="0"/>
              <a:t>,</a:t>
            </a:r>
          </a:p>
          <a:p>
            <a:r>
              <a:rPr lang="en-CA" altLang="zh-CN" dirty="0"/>
              <a:t>which is much higher than others.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So overall,</a:t>
            </a:r>
          </a:p>
          <a:p>
            <a:r>
              <a:rPr lang="en-CA" altLang="zh-CN" dirty="0" err="1"/>
              <a:t>SketchMol</a:t>
            </a:r>
            <a:r>
              <a:rPr lang="en-CA" altLang="zh-CN" dirty="0"/>
              <a:t>:</a:t>
            </a:r>
          </a:p>
          <a:p>
            <a:r>
              <a:rPr lang="en-CA" altLang="zh-CN" dirty="0"/>
              <a:t>reduces low-quality results </a:t>
            </a:r>
          </a:p>
          <a:p>
            <a:r>
              <a:rPr lang="en-CA" altLang="zh-CN" dirty="0"/>
              <a:t>reduces invalid structures </a:t>
            </a:r>
          </a:p>
          <a:p>
            <a:r>
              <a:rPr lang="en-CA" altLang="zh-CN" dirty="0"/>
              <a:t>and generates more valid molecules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Finally, let’s summarize the paper.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First, the </a:t>
            </a:r>
            <a:r>
              <a:rPr lang="en-CA" altLang="zh-CN" b="1" dirty="0"/>
              <a:t>main contribution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This paper proposes a </a:t>
            </a:r>
            <a:r>
              <a:rPr lang="en-CA" altLang="zh-CN" b="1" dirty="0"/>
              <a:t>unified framework</a:t>
            </a:r>
            <a:br>
              <a:rPr lang="en-CA" altLang="zh-CN" dirty="0"/>
            </a:br>
            <a:r>
              <a:rPr lang="en-CA" altLang="zh-CN" dirty="0"/>
              <a:t>for molecule generation.</a:t>
            </a:r>
          </a:p>
          <a:p>
            <a:r>
              <a:rPr lang="en-CA" altLang="zh-CN" dirty="0"/>
              <a:t>It treats molecules as images,</a:t>
            </a:r>
            <a:br>
              <a:rPr lang="en-CA" altLang="zh-CN" dirty="0"/>
            </a:br>
            <a:r>
              <a:rPr lang="en-CA" altLang="zh-CN" dirty="0"/>
              <a:t>and supports both generation and editing.</a:t>
            </a:r>
          </a:p>
          <a:p>
            <a:r>
              <a:rPr lang="en-CA" altLang="zh-CN" dirty="0"/>
              <a:t>It also allows conditional control,</a:t>
            </a:r>
            <a:br>
              <a:rPr lang="en-CA" altLang="zh-CN" dirty="0"/>
            </a:br>
            <a:r>
              <a:rPr lang="en-CA" altLang="zh-CN" dirty="0"/>
              <a:t>so we can guide the model</a:t>
            </a:r>
            <a:br>
              <a:rPr lang="en-CA" altLang="zh-CN" dirty="0"/>
            </a:br>
            <a:r>
              <a:rPr lang="en-CA" altLang="zh-CN" dirty="0"/>
              <a:t>based on properties or activity.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Next, the </a:t>
            </a:r>
            <a:r>
              <a:rPr lang="en-CA" altLang="zh-CN" b="1" dirty="0"/>
              <a:t>key strengths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It uses one framework</a:t>
            </a:r>
            <a:br>
              <a:rPr lang="en-CA" altLang="zh-CN" dirty="0"/>
            </a:br>
            <a:r>
              <a:rPr lang="en-CA" altLang="zh-CN" dirty="0"/>
              <a:t>for generation, editing, and inpainting </a:t>
            </a:r>
          </a:p>
          <a:p>
            <a:r>
              <a:rPr lang="en-CA" altLang="zh-CN" dirty="0"/>
              <a:t>The image-based interface</a:t>
            </a:r>
            <a:br>
              <a:rPr lang="en-CA" altLang="zh-CN" dirty="0"/>
            </a:br>
            <a:r>
              <a:rPr lang="en-CA" altLang="zh-CN" dirty="0"/>
              <a:t>is more intuitive </a:t>
            </a:r>
          </a:p>
          <a:p>
            <a:r>
              <a:rPr lang="en-CA" altLang="zh-CN" dirty="0"/>
              <a:t>It improves chemical validity </a:t>
            </a:r>
          </a:p>
          <a:p>
            <a:r>
              <a:rPr lang="en-CA" altLang="zh-CN" dirty="0"/>
              <a:t>And it supports flexible control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Finally, the </a:t>
            </a:r>
            <a:r>
              <a:rPr lang="en-CA" altLang="zh-CN" b="1" dirty="0"/>
              <a:t>limitations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It only uses 2D images,</a:t>
            </a:r>
            <a:br>
              <a:rPr lang="en-CA" altLang="zh-CN" dirty="0"/>
            </a:br>
            <a:r>
              <a:rPr lang="en-CA" altLang="zh-CN" dirty="0"/>
              <a:t>so it cannot capture 3D structure </a:t>
            </a:r>
          </a:p>
          <a:p>
            <a:r>
              <a:rPr lang="en-CA" altLang="zh-CN" dirty="0"/>
              <a:t>It depends on OCR</a:t>
            </a:r>
            <a:br>
              <a:rPr lang="en-CA" altLang="zh-CN" dirty="0"/>
            </a:br>
            <a:r>
              <a:rPr lang="en-CA" altLang="zh-CN" dirty="0"/>
              <a:t>to convert images back to molecules </a:t>
            </a:r>
          </a:p>
          <a:p>
            <a:r>
              <a:rPr lang="en-CA" altLang="zh-CN" dirty="0"/>
              <a:t>And performance drops</a:t>
            </a:r>
            <a:br>
              <a:rPr lang="en-CA" altLang="zh-CN" dirty="0"/>
            </a:br>
            <a:r>
              <a:rPr lang="en-CA" altLang="zh-CN" dirty="0"/>
              <a:t>for complex molecules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5120640" cy="57092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SketchMol</a:t>
            </a: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at a Glance</a:t>
            </a:r>
            <a:endParaRPr lang="en-US" altLang="zh-CN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5120640" cy="36576"/>
          </a:xfrm>
          <a:custGeom>
            <a:avLst/>
            <a:gdLst/>
            <a:ahLst/>
            <a:cxnLst/>
            <a:rect l="l" t="t" r="r" b="b"/>
            <a:pathLst>
              <a:path w="5120640" h="36576">
                <a:moveTo>
                  <a:pt x="0" y="0"/>
                </a:moveTo>
                <a:lnTo>
                  <a:pt x="5120640" y="0"/>
                </a:lnTo>
                <a:lnTo>
                  <a:pt x="51206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6309360" y="548640"/>
            <a:ext cx="2103120" cy="2553788"/>
          </a:xfrm>
          <a:custGeom>
            <a:avLst/>
            <a:gdLst/>
            <a:ahLst/>
            <a:cxnLst/>
            <a:rect l="l" t="t" r="r" b="b"/>
            <a:pathLst>
              <a:path w="1737360" h="2304288">
                <a:moveTo>
                  <a:pt x="0" y="0"/>
                </a:moveTo>
                <a:lnTo>
                  <a:pt x="1737360" y="0"/>
                </a:lnTo>
                <a:lnTo>
                  <a:pt x="1737360" y="2304288"/>
                </a:lnTo>
                <a:lnTo>
                  <a:pt x="0" y="2304288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640080"/>
            <a:ext cx="1881739" cy="24048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673352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0"/>
                </a:move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EEF4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3566160" y="1673352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0"/>
                </a:move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EFFC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31520" y="1837944"/>
            <a:ext cx="2011680" cy="40363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</a:rPr>
              <a:t>Research Background</a:t>
            </a:r>
            <a:endParaRPr lang="en-US" sz="1296" b="1" dirty="0">
              <a:solidFill>
                <a:srgbClr val="1D4ED8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31520" y="2267712"/>
            <a:ext cx="2011680" cy="777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Eroom's law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 need better efficiency in molecule design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749040" y="1718295"/>
            <a:ext cx="2011680" cy="64293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96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</a:rPr>
              <a:t>Existing Representations</a:t>
            </a:r>
            <a:endParaRPr lang="en-US" sz="1296" b="1" dirty="0">
              <a:solidFill>
                <a:srgbClr val="15803D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749040" y="2225978"/>
            <a:ext cx="2011680" cy="88197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Sequence: SMILES</a:t>
            </a:r>
            <a:b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Graph structure</a:t>
            </a:r>
          </a:p>
          <a:p>
            <a:pPr algn="ctr">
              <a:lnSpc>
                <a:spcPct val="120000"/>
              </a:lnSpc>
              <a:spcBef>
                <a:spcPts val="360"/>
              </a:spcBef>
            </a:pPr>
            <a:r>
              <a:rPr lang="en-CA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Both have limitations</a:t>
            </a:r>
            <a:endParaRPr lang="en-US" sz="1152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108960" y="2359152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27432">
            <a:solidFill>
              <a:srgbClr val="94A3B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5055D283-AAEB-E4BE-E554-63F9B19C6839}"/>
              </a:ext>
            </a:extLst>
          </p:cNvPr>
          <p:cNvSpPr/>
          <p:nvPr/>
        </p:nvSpPr>
        <p:spPr>
          <a:xfrm>
            <a:off x="585216" y="3402345"/>
            <a:ext cx="7973568" cy="1337482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Drug discovery faces persistent efficiency challenges, motivating better generative design</a:t>
            </a:r>
            <a:r>
              <a:rPr lang="zh-CN" alt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SketchMol represents molecules as images rather than only sequences or graphs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The framework unifies de novo design and molecular editing through a visual generation</a:t>
            </a:r>
            <a:r>
              <a:rPr lang="zh-CN" alt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Research focus: conceptual understanding, methodology, and evidence from the paper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Move Beyond Sequences and Graphs?</a:t>
            </a:r>
            <a:endParaRPr lang="en-US" altLang="zh-CN" sz="1200" dirty="0"/>
          </a:p>
        </p:txBody>
      </p:sp>
      <p:sp>
        <p:nvSpPr>
          <p:cNvPr id="4" name="Shape 1"/>
          <p:cNvSpPr/>
          <p:nvPr/>
        </p:nvSpPr>
        <p:spPr>
          <a:xfrm>
            <a:off x="640080" y="112014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08E923C-3862-ECB9-EEE4-55999441692D}"/>
              </a:ext>
            </a:extLst>
          </p:cNvPr>
          <p:cNvSpPr/>
          <p:nvPr/>
        </p:nvSpPr>
        <p:spPr>
          <a:xfrm>
            <a:off x="548640" y="1322699"/>
            <a:ext cx="4239635" cy="992964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Representation Shift</a:t>
            </a:r>
            <a:endParaRPr lang="en-US" sz="1152" dirty="0"/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Molecular generation needs a representation that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captures both chemically meaningful local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and the overall organization of the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molecule. </a:t>
            </a:r>
            <a:endParaRPr lang="en-US" sz="1152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4040864-70B9-F9BB-32C7-B24615442162}"/>
              </a:ext>
            </a:extLst>
          </p:cNvPr>
          <p:cNvSpPr/>
          <p:nvPr/>
        </p:nvSpPr>
        <p:spPr>
          <a:xfrm>
            <a:off x="5015684" y="1480046"/>
            <a:ext cx="3867912" cy="2925160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compact comparison of the main molecular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representation choices.</a:t>
            </a:r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Representation | What it captures well | Main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limitation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Sequence | Simple serialization and easy use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language-style models | Can obscure global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topology and long-range structural relationships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Graph | Explicit atom-bond connectivity and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chemical structure | Construction, manipulation,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scaling can be difficult for generation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Image | Local visual detail and whole-structure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in one space | Requires learning a valid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visual-to-chemical correspondence</a:t>
            </a:r>
            <a:endParaRPr lang="en-US" sz="1152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B5B8D08-979D-68D7-6823-BEECB10BD589}"/>
              </a:ext>
            </a:extLst>
          </p:cNvPr>
          <p:cNvSpPr/>
          <p:nvPr/>
        </p:nvSpPr>
        <p:spPr>
          <a:xfrm>
            <a:off x="548639" y="2428960"/>
            <a:ext cx="4239635" cy="1027333"/>
          </a:xfrm>
          <a:prstGeom prst="rect">
            <a:avLst/>
          </a:prstGeom>
          <a:solidFill>
            <a:srgbClr val="FFFFFF"/>
          </a:solidFill>
          <a:ln w="9144">
            <a:solidFill>
              <a:srgbClr val="12B76A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generation task really demands</a:t>
            </a:r>
            <a:endParaRPr lang="en-US" sz="1152" dirty="0"/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008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CA" altLang="zh-CN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</a:rPr>
              <a:t>Molecular design is not only about correct atoms and bonds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008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It also requires a coherent global arrangement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the whole structure makes sense as one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object.</a:t>
            </a:r>
            <a:endParaRPr lang="en-US" sz="1152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7B7E479-EDD8-D3D1-5CA8-6D4532B081D7}"/>
              </a:ext>
            </a:extLst>
          </p:cNvPr>
          <p:cNvSpPr/>
          <p:nvPr/>
        </p:nvSpPr>
        <p:spPr>
          <a:xfrm>
            <a:off x="548639" y="3569590"/>
            <a:ext cx="4239635" cy="1403654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image-based modeling is plausible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generation models are designed to capture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 local patterns while maintaining global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spatial consistency. </a:t>
            </a:r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That makes them a natural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for molecule generation when we want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model detailed substructures and overall</a:t>
            </a:r>
            <a:r>
              <a:rPr lang="en-US" sz="1152" dirty="0"/>
              <a:t> 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molecular organization together.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AF65-4A00-7A25-7868-82C6018F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624B53C-270B-0A48-4295-7FDEE211DD75}"/>
              </a:ext>
            </a:extLst>
          </p:cNvPr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Core Idea: Molecules as Visual Objects</a:t>
            </a:r>
            <a:endParaRPr lang="en-US" altLang="zh-CN" sz="1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FA474FF-BCBA-F7DA-E283-921334591C9A}"/>
              </a:ext>
            </a:extLst>
          </p:cNvPr>
          <p:cNvSpPr/>
          <p:nvPr/>
        </p:nvSpPr>
        <p:spPr>
          <a:xfrm>
            <a:off x="640080" y="112014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291FB9-9832-F55A-66C3-1E9AE80F1E24}"/>
              </a:ext>
            </a:extLst>
          </p:cNvPr>
          <p:cNvSpPr/>
          <p:nvPr/>
        </p:nvSpPr>
        <p:spPr>
          <a:xfrm>
            <a:off x="640080" y="1247153"/>
            <a:ext cx="7735824" cy="711605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The paper’s key shift is to treat a molecule not only as a symbolic string or graph, but</a:t>
            </a:r>
            <a:r>
              <a:rPr 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as a visual object that can be created and edited directly in image space. In one view, a</a:t>
            </a:r>
            <a:r>
              <a:rPr 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molecular image can expose atom types, bond patterns, and overall spatial arrangement,</a:t>
            </a:r>
            <a:r>
              <a:rPr 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making the design process easier to align with human intuition.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F51D57-7E36-DE95-1461-7E157E6C6B15}"/>
              </a:ext>
            </a:extLst>
          </p:cNvPr>
          <p:cNvSpPr/>
          <p:nvPr/>
        </p:nvSpPr>
        <p:spPr>
          <a:xfrm>
            <a:off x="640080" y="2142511"/>
            <a:ext cx="7735824" cy="714555"/>
          </a:xfrm>
          <a:prstGeom prst="rect">
            <a:avLst/>
          </a:prstGeom>
          <a:solidFill>
            <a:srgbClr val="F7F5FF"/>
          </a:solidFill>
          <a:ln w="9144">
            <a:solidFill>
              <a:srgbClr val="E5DEFE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Old interface: </a:t>
            </a:r>
            <a:b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Symbolic encoding is powerful, but it separates representation from how people naturally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 and revise structures.；New interface: An image becomes a single workspace for generation,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modification, and inspection.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C6A4B0B-9F6E-E672-6A65-DEFA911E18E7}"/>
              </a:ext>
            </a:extLst>
          </p:cNvPr>
          <p:cNvSpPr/>
          <p:nvPr/>
        </p:nvSpPr>
        <p:spPr>
          <a:xfrm>
            <a:off x="640080" y="3040819"/>
            <a:ext cx="7735824" cy="753027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 the whole molecule at once</a:t>
            </a:r>
            <a:endParaRPr lang="en-US" sz="1100" dirty="0"/>
          </a:p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molecular image can display atom identities, bond connections, and global shape in one integrated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 instead of splitting these cues across separate symbolic forms.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1728DBB-2416-408E-AD77-1F17D3ED0818}"/>
              </a:ext>
            </a:extLst>
          </p:cNvPr>
          <p:cNvSpPr/>
          <p:nvPr/>
        </p:nvSpPr>
        <p:spPr>
          <a:xfrm>
            <a:off x="640080" y="3977599"/>
            <a:ext cx="7735824" cy="753027"/>
          </a:xfrm>
          <a:prstGeom prst="rect">
            <a:avLst/>
          </a:prstGeom>
          <a:solidFill>
            <a:srgbClr val="F7F5FF"/>
          </a:solidFill>
          <a:ln w="9144">
            <a:solidFill>
              <a:srgbClr val="E5DEFE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 de novo by drawing</a:t>
            </a:r>
            <a:endParaRPr lang="en-US" sz="1100" dirty="0"/>
          </a:p>
          <a:p>
            <a:pPr marL="0" indent="0">
              <a:lnSpc>
                <a:spcPct val="105600"/>
              </a:lnSpc>
              <a:spcBef>
                <a:spcPts val="288"/>
              </a:spcBef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Creating a new molecule becomes analogous to drawing on a blank canvas: the model generates a complete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directly in visual form.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0338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6376B-C351-2738-EE72-05E446CF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A111345-9569-5212-792B-A71108D99C13}"/>
              </a:ext>
            </a:extLst>
          </p:cNvPr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SketchMol</a:t>
            </a: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Architecture Overview (Training Stage)</a:t>
            </a:r>
            <a:endParaRPr lang="en-US" altLang="zh-CN" sz="1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697808F-52A4-3005-BBE1-C755799C9917}"/>
              </a:ext>
            </a:extLst>
          </p:cNvPr>
          <p:cNvSpPr/>
          <p:nvPr/>
        </p:nvSpPr>
        <p:spPr>
          <a:xfrm>
            <a:off x="640080" y="1170432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259E4523-A090-7167-9A67-D06662C8E4C8}"/>
              </a:ext>
            </a:extLst>
          </p:cNvPr>
          <p:cNvSpPr/>
          <p:nvPr/>
        </p:nvSpPr>
        <p:spPr>
          <a:xfrm>
            <a:off x="640079" y="1347737"/>
            <a:ext cx="6112413" cy="1250279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93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Preparation</a:t>
            </a:r>
            <a:br>
              <a:rPr lang="en-US" sz="93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Obtain molecular structures from molecular datasets (such as PubChem);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Render into normalized 2D molecular images;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Perform necessary preprocessing (cropping, scaling, normalization, etc.);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152" dirty="0"/>
              <a:t>Prepare labels for conditional generation (such as activity, property ranges, or target constraints).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FBD4D02-C341-4FE1-C2F1-4C38B0649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747889"/>
            <a:ext cx="7772400" cy="23564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14D8BC-7E09-2B5A-1599-07931721B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631" y="1052237"/>
            <a:ext cx="1805354" cy="16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8866-D4D2-2D03-FCC8-CA09C4CC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D07EB39F-9A90-6E79-D707-98EDB8237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40" y="146106"/>
            <a:ext cx="7772400" cy="27016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0D8205-DCC9-0416-381F-F0D2274D2F7E}"/>
              </a:ext>
            </a:extLst>
          </p:cNvPr>
          <p:cNvSpPr txBox="1"/>
          <p:nvPr/>
        </p:nvSpPr>
        <p:spPr>
          <a:xfrm>
            <a:off x="8452155" y="146106"/>
            <a:ext cx="615553" cy="44430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CA" altLang="zh-CN" sz="2800" dirty="0"/>
              <a:t>Training Stage</a:t>
            </a:r>
            <a:endParaRPr kumimoji="1" lang="zh-CN" altLang="en-US" sz="28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A1302CA-2976-3D4A-1417-38CCC199DCD2}"/>
              </a:ext>
            </a:extLst>
          </p:cNvPr>
          <p:cNvSpPr/>
          <p:nvPr/>
        </p:nvSpPr>
        <p:spPr>
          <a:xfrm rot="5400000" flipV="1">
            <a:off x="6020202" y="2571208"/>
            <a:ext cx="4909625" cy="45719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8E27266-CFFF-0B37-CD44-E87F863C0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40" y="2847796"/>
            <a:ext cx="7772400" cy="2164664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D93F0A80-D0E1-FF78-2C74-67E62533055E}"/>
              </a:ext>
            </a:extLst>
          </p:cNvPr>
          <p:cNvSpPr/>
          <p:nvPr/>
        </p:nvSpPr>
        <p:spPr>
          <a:xfrm>
            <a:off x="161931" y="752741"/>
            <a:ext cx="1566385" cy="1488421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5600"/>
              </a:lnSpc>
              <a:spcBef>
                <a:spcPts val="288"/>
              </a:spcBef>
            </a:pPr>
            <a:r>
              <a:rPr lang="en-US" sz="1152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main task is to "predict the added noise," and once learned, it can perform reverse denoising during sampling;</a:t>
            </a:r>
          </a:p>
        </p:txBody>
      </p:sp>
    </p:spTree>
    <p:extLst>
      <p:ext uri="{BB962C8B-B14F-4D97-AF65-F5344CB8AC3E}">
        <p14:creationId xmlns:p14="http://schemas.microsoft.com/office/powerpoint/2010/main" val="373810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8F54-C2EB-A81B-AF2A-7DD9F7A6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18890DF-8508-3D59-3C17-7A2C8A2D193E}"/>
              </a:ext>
            </a:extLst>
          </p:cNvPr>
          <p:cNvSpPr/>
          <p:nvPr/>
        </p:nvSpPr>
        <p:spPr>
          <a:xfrm>
            <a:off x="548640" y="457200"/>
            <a:ext cx="8046720" cy="5633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4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SketchMol</a:t>
            </a:r>
            <a:r>
              <a:rPr lang="en-US" altLang="zh-CN" sz="2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Architecture Overview (Generation)</a:t>
            </a:r>
            <a:endParaRPr lang="en-US" altLang="zh-CN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2">
                <a:extLst>
                  <a:ext uri="{FF2B5EF4-FFF2-40B4-BE49-F238E27FC236}">
                    <a16:creationId xmlns:a16="http://schemas.microsoft.com/office/drawing/2014/main" id="{9154190D-7DD2-44D4-FF4C-C28C3F888891}"/>
                  </a:ext>
                </a:extLst>
              </p:cNvPr>
              <p:cNvSpPr/>
              <p:nvPr/>
            </p:nvSpPr>
            <p:spPr>
              <a:xfrm>
                <a:off x="4572000" y="1277561"/>
                <a:ext cx="3867912" cy="215603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144">
                <a:solidFill>
                  <a:schemeClr val="accent1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 wrap="square" lIns="91440" tIns="91440" rIns="91440" bIns="91440" rtlCol="0" anchor="t">
                <a:spAutoFit/>
              </a:bodyPr>
              <a:lstStyle/>
              <a:p>
                <a:pPr>
                  <a:buNone/>
                </a:pPr>
                <a:r>
                  <a:rPr lang="en-CA" altLang="zh-CN" sz="1200" b="1" dirty="0">
                    <a:solidFill>
                      <a:srgbClr val="2563EB"/>
                    </a:solidFill>
                    <a:latin typeface="Microsoft YaHei" pitchFamily="34" charset="0"/>
                    <a:ea typeface="Microsoft YaHei" pitchFamily="34" charset="-122"/>
                  </a:rPr>
                  <a:t>Generation Process (Latent Diffusion)</a:t>
                </a:r>
                <a:endParaRPr lang="en-US" sz="1200" b="1" dirty="0">
                  <a:solidFill>
                    <a:srgbClr val="2563EB"/>
                  </a:solidFill>
                  <a:latin typeface="Microsoft YaHei" pitchFamily="34" charset="0"/>
                  <a:ea typeface="Microsoft YaHei" pitchFamily="34" charset="-122"/>
                </a:endParaRP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Start from random 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Iteratively denoise with U-Net </a:t>
                </a: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Predict noise at each step 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Update latent: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zh-CN" sz="120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altLang="zh-CN" sz="12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altLang="zh-CN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Final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altLang="zh-CN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is </a:t>
                </a:r>
                <a:r>
                  <a:rPr lang="en-CA" altLang="zh-CN" sz="12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clean latent (not image)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altLang="zh-CN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Decoder converts latent → molecular image</a:t>
                </a:r>
              </a:p>
              <a:p>
                <a:r>
                  <a:rPr lang="en-US" altLang="zh-CN" sz="1200" dirty="0">
                    <a:solidFill>
                      <a:srgbClr val="2F6B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•</a:t>
                </a:r>
                <a:r>
                  <a:rPr lang="en-US" altLang="zh-CN" sz="1200" dirty="0">
                    <a:solidFill>
                      <a:srgbClr val="33415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Although the model predicts the total noise, this estimate allows us to reconstruct the clean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</m:t>
                        </m:r>
                      </m:e>
                      <m:sub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en-CA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which can then be used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</m:t>
                        </m:r>
                      </m:e>
                      <m:sub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  <m:r>
                          <a:rPr lang="ar-AE" altLang="zh-CN" sz="12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ar-AE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.</a:t>
                </a:r>
                <a:endParaRPr 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Text 2">
                <a:extLst>
                  <a:ext uri="{FF2B5EF4-FFF2-40B4-BE49-F238E27FC236}">
                    <a16:creationId xmlns:a16="http://schemas.microsoft.com/office/drawing/2014/main" id="{9154190D-7DD2-44D4-FF4C-C28C3F888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77561"/>
                <a:ext cx="3867912" cy="2156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144">
                <a:solidFill>
                  <a:schemeClr val="accent1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7F224AC4-A789-2621-831A-18D127BBA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909" y="3690602"/>
            <a:ext cx="4096451" cy="92709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AA7B421-767B-09A8-109E-592A8988C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020559"/>
            <a:ext cx="3463575" cy="397524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FCA6FEC-0B70-D7BC-5FFC-02C738D8CFAB}"/>
              </a:ext>
            </a:extLst>
          </p:cNvPr>
          <p:cNvSpPr txBox="1"/>
          <p:nvPr/>
        </p:nvSpPr>
        <p:spPr>
          <a:xfrm>
            <a:off x="4498909" y="4690030"/>
            <a:ext cx="410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A" altLang="zh-CN" dirty="0"/>
              <a:t>Next Slide: How to Control the generation</a:t>
            </a:r>
            <a:endParaRPr kumimoji="1" lang="zh-CN" altLang="en-US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F18058C5-D85E-6B6E-7E5A-72169E9592C3}"/>
              </a:ext>
            </a:extLst>
          </p:cNvPr>
          <p:cNvSpPr/>
          <p:nvPr/>
        </p:nvSpPr>
        <p:spPr>
          <a:xfrm>
            <a:off x="640080" y="993127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62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7960-5893-1FEA-8AC6-82EB64EB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FEFD7D0D-321C-7477-825B-850CC61380EE}"/>
              </a:ext>
            </a:extLst>
          </p:cNvPr>
          <p:cNvSpPr/>
          <p:nvPr/>
        </p:nvSpPr>
        <p:spPr>
          <a:xfrm>
            <a:off x="570845" y="441801"/>
            <a:ext cx="8046720" cy="55399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2400" dirty="0"/>
              <a:t>Conditional Sampling via Guided Denoising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00C706-0B7F-8FB0-3CD4-84DF5E87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45" y="1224888"/>
            <a:ext cx="3227405" cy="3717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EA1233FD-C01F-12B6-ECCB-9EBAD95F9B86}"/>
                  </a:ext>
                </a:extLst>
              </p:cNvPr>
              <p:cNvSpPr/>
              <p:nvPr/>
            </p:nvSpPr>
            <p:spPr>
              <a:xfrm>
                <a:off x="4411226" y="1094260"/>
                <a:ext cx="4092693" cy="2590133"/>
              </a:xfrm>
              <a:prstGeom prst="rect">
                <a:avLst/>
              </a:prstGeom>
              <a:solidFill>
                <a:srgbClr val="F7F5FF"/>
              </a:solidFill>
              <a:ln w="9144">
                <a:solidFill>
                  <a:srgbClr val="7A5AF8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 wrap="square" lIns="91440" tIns="91440" rIns="91440" bIns="91440" rtlCol="0" anchor="t">
                <a:spAutoFit/>
              </a:bodyPr>
              <a:lstStyle/>
              <a:p>
                <a:pPr>
                  <a:buNone/>
                </a:pPr>
                <a:r>
                  <a:rPr lang="en-CA" altLang="zh-CN" sz="1152" b="1" dirty="0">
                    <a:solidFill>
                      <a:srgbClr val="7A5AF8"/>
                    </a:solidFill>
                    <a:latin typeface="Microsoft YaHei" pitchFamily="34" charset="0"/>
                    <a:ea typeface="Microsoft YaHei" pitchFamily="34" charset="-122"/>
                  </a:rPr>
                  <a:t>Generation Process </a:t>
                </a:r>
              </a:p>
              <a:p>
                <a:pPr>
                  <a:buNone/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At each timestep, the model predicts noise conditioned on the prompt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The predicted noise determines the update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𝑧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𝑡</m:t>
                        </m:r>
                      </m:sub>
                    </m:sSub>
                    <m:r>
                      <a:rPr lang="en-US" sz="11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Microsoft YaHei" pitchFamily="34" charset="-120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𝑧</m:t>
                        </m:r>
                      </m:e>
                      <m:sub>
                        <m:r>
                          <a:rPr lang="en-CA" sz="11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𝑡</m:t>
                        </m:r>
                        <m:r>
                          <a:rPr lang="en-CA" sz="11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Microsoft YaHei" pitchFamily="34" charset="-120"/>
                          </a:rPr>
                          <m:t>−1</m:t>
                        </m:r>
                      </m:sub>
                    </m:sSub>
                  </m:oMath>
                </a14:m>
                <a:endParaRPr lang="en-US" sz="1100" dirty="0">
                  <a:solidFill>
                    <a:srgbClr val="7A5AF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itchFamily="34" charset="-120"/>
                </a:endParaRPr>
              </a:p>
              <a:p>
                <a:pPr algn="ctr"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CA" altLang="zh-CN" sz="1100" dirty="0"/>
                  <a:t>Attention(query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altLang="zh-CN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1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CA" altLang="zh-CN" sz="11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altLang="zh-CN" sz="11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altLang="zh-CN" sz="1100" dirty="0"/>
                  <a:t>feature, key/value = </a:t>
                </a:r>
                <a:r>
                  <a:rPr lang="en-CA" altLang="zh-CN" sz="1100" dirty="0" err="1"/>
                  <a:t>cond</a:t>
                </a:r>
                <a:r>
                  <a:rPr lang="en-CA" altLang="zh-CN" sz="1100" dirty="0"/>
                  <a:t>)</a:t>
                </a:r>
                <a:endParaRPr lang="en-US" sz="1100" dirty="0">
                  <a:solidFill>
                    <a:srgbClr val="7A5AF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itchFamily="34" charset="-120"/>
                </a:endParaRP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The condition is injected via cross-attention into the U-Net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This guides the denoising trajectory toward samples satisfying the desired property</a:t>
                </a:r>
              </a:p>
              <a:p>
                <a:pPr>
                  <a:lnSpc>
                    <a:spcPct val="108000"/>
                  </a:lnSpc>
                  <a:spcBef>
                    <a:spcPts val="360"/>
                  </a:spcBef>
                </a:pPr>
                <a:r>
                  <a:rPr lang="en-US" altLang="zh-CN" sz="1100" dirty="0">
                    <a:solidFill>
                      <a:srgbClr val="7A5AF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itchFamily="34" charset="-120"/>
                  </a:rPr>
                  <a:t>• </a:t>
                </a:r>
                <a: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Condition: molecular properties or activity targets</a:t>
                </a:r>
                <a:b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</a:br>
                <a:r>
                  <a:rPr lang="zh-CN" alt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</a:t>
                </a:r>
                <a: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Example</a:t>
                </a:r>
                <a:r>
                  <a:rPr lang="zh-CN" altLang="en-US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r>
                  <a:rPr lang="en-CA" altLang="zh-CN" sz="11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LogP:4 TPSA:40 HBD:1 RB, HBA, …</a:t>
                </a:r>
                <a:endParaRPr lang="en-US" sz="11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EA1233FD-C01F-12B6-ECCB-9EBAD95F9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226" y="1094260"/>
                <a:ext cx="4092693" cy="25901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144">
                <a:solidFill>
                  <a:srgbClr val="7A5AF8"/>
                </a:solidFill>
                <a:prstDash val="solid"/>
              </a:ln>
              <a:effectLst>
                <a:outerShdw blurRad="219456" dist="101600" dir="5400000" algn="bl" rotWithShape="0">
                  <a:srgbClr val="0F172A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C36AC55D-AA68-E3BB-4843-850C4F478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225" y="3786366"/>
            <a:ext cx="4092693" cy="915333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5C7B81F7-397D-22F2-9BC7-496BBF17728D}"/>
              </a:ext>
            </a:extLst>
          </p:cNvPr>
          <p:cNvSpPr/>
          <p:nvPr/>
        </p:nvSpPr>
        <p:spPr>
          <a:xfrm>
            <a:off x="640080" y="968367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67D84E-1229-9845-0173-3CD266908962}"/>
              </a:ext>
            </a:extLst>
          </p:cNvPr>
          <p:cNvSpPr txBox="1"/>
          <p:nvPr/>
        </p:nvSpPr>
        <p:spPr>
          <a:xfrm>
            <a:off x="4411225" y="4701699"/>
            <a:ext cx="1884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A" altLang="zh-CN" dirty="0"/>
              <a:t>Next Slide: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18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E67E-CF32-6B86-0813-656E76E1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2CDD1C-6710-74F6-0B74-6F091F5D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58" y="1537389"/>
            <a:ext cx="4294114" cy="282411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5E54400-8F39-5D5C-4877-0A59F8FDE7EB}"/>
              </a:ext>
            </a:extLst>
          </p:cNvPr>
          <p:cNvSpPr/>
          <p:nvPr/>
        </p:nvSpPr>
        <p:spPr>
          <a:xfrm>
            <a:off x="570845" y="441801"/>
            <a:ext cx="8046720" cy="55399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2400" dirty="0"/>
              <a:t>Inpainting for Local Molecule Editing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DFCB1D2-4183-6746-739A-60ADA00ED827}"/>
              </a:ext>
            </a:extLst>
          </p:cNvPr>
          <p:cNvSpPr/>
          <p:nvPr/>
        </p:nvSpPr>
        <p:spPr>
          <a:xfrm>
            <a:off x="4524872" y="1122315"/>
            <a:ext cx="409269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144">
            <a:solidFill>
              <a:schemeClr val="accent6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>
              <a:buNone/>
            </a:pPr>
            <a:r>
              <a:rPr lang="en-CA" altLang="zh-CN" sz="1400" dirty="0">
                <a:solidFill>
                  <a:schemeClr val="accent6"/>
                </a:solidFill>
              </a:rPr>
              <a:t>Molecule Editing Process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 </a:t>
            </a:r>
            <a:r>
              <a:rPr lang="en-CA" altLang="zh-CN" sz="1200" dirty="0"/>
              <a:t>A mask specifies the region to be modified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 </a:t>
            </a:r>
            <a:r>
              <a:rPr lang="en-CA" altLang="zh-CN" sz="1200" dirty="0"/>
              <a:t>Noise is applied to the masked region while preserving the rest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</a:t>
            </a:r>
            <a:r>
              <a:rPr lang="en-CA" altLang="zh-CN" sz="1200" dirty="0"/>
              <a:t> At each step, the model predicts noise conditioned on the target property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</a:t>
            </a:r>
            <a:r>
              <a:rPr lang="en-CA" altLang="zh-CN" sz="1200" dirty="0"/>
              <a:t> The unmasked region is reset to the original latent to preserve structure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 </a:t>
            </a:r>
            <a:r>
              <a:rPr lang="en-CA" altLang="zh-CN" sz="1200" dirty="0"/>
              <a:t>The masked region is gradually generated via diffusion</a:t>
            </a:r>
            <a:br>
              <a:rPr lang="en-CA" altLang="zh-CN" sz="1200" dirty="0"/>
            </a:br>
            <a:r>
              <a:rPr lang="en-CA" altLang="zh-CN" sz="1200" dirty="0">
                <a:solidFill>
                  <a:schemeClr val="accent6"/>
                </a:solidFill>
              </a:rPr>
              <a:t>•</a:t>
            </a:r>
            <a:r>
              <a:rPr lang="en-CA" altLang="zh-CN" sz="1200" dirty="0"/>
              <a:t> Enables local editing while maintaining global consistency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C54DFCFE-8458-A05B-1B24-C45DFCD2BF87}"/>
              </a:ext>
            </a:extLst>
          </p:cNvPr>
          <p:cNvSpPr/>
          <p:nvPr/>
        </p:nvSpPr>
        <p:spPr>
          <a:xfrm>
            <a:off x="640080" y="968367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F590B44-D2E8-962E-652A-CB6D36AA2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181" y="1086033"/>
            <a:ext cx="891634" cy="8726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DF2C0F-B610-32B2-FCF0-9F9D85ECC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872" y="3606111"/>
            <a:ext cx="4433486" cy="113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1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dirty="0"/>
              <a:t>RLME(Reinforcement Learning from Molecular Expert)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8193A83-B4B5-488E-5C65-855D4A87A224}"/>
              </a:ext>
            </a:extLst>
          </p:cNvPr>
          <p:cNvSpPr/>
          <p:nvPr/>
        </p:nvSpPr>
        <p:spPr>
          <a:xfrm>
            <a:off x="640080" y="1437948"/>
            <a:ext cx="7863840" cy="1016753"/>
          </a:xfrm>
          <a:prstGeom prst="rect">
            <a:avLst/>
          </a:prstGeom>
          <a:solidFill>
            <a:srgbClr val="F5F9FF"/>
          </a:solidFill>
          <a:ln w="9144">
            <a:solidFill>
              <a:srgbClr val="D9E6FF"/>
            </a:solidFill>
            <a:prstDash val="solid"/>
          </a:ln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Motivation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molecular image generation, realism is not enough. A generated image must also preserve chemically meaningful structure, such as readable atoms, valid connectivity, and plausible bonding patterns. This makes molecular generation a stricter problem than ordinary natural-image synthesis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7C74A39-5BEE-CC97-2D9A-237A073E2F54}"/>
              </a:ext>
            </a:extLst>
          </p:cNvPr>
          <p:cNvSpPr/>
          <p:nvPr/>
        </p:nvSpPr>
        <p:spPr>
          <a:xfrm>
            <a:off x="640080" y="2837144"/>
            <a:ext cx="7863840" cy="1911870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Modes of Naive Generation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Diffusion models may produce images that look plausible at a glance but do not correspond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valid molecular structures.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Because molecular images are sparse and highly structured, small visual errors can destroy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chemical meaning.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Typical problems include blurry or low-quality depictions, unreadable atom or bond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layouts, and irrational bonding patterns.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 visually smooth sample can still fail downstream molecular interpretation or expert</a:t>
            </a:r>
            <a:r>
              <a:rPr lang="en-US" sz="1152" dirty="0"/>
              <a:t> 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validation.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1BC61-C0AD-3FC8-1A4F-2E644BC0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549A5D6-3973-AB18-9164-8CE331E6DC65}"/>
              </a:ext>
            </a:extLst>
          </p:cNvPr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dirty="0"/>
              <a:t>RLME</a:t>
            </a:r>
            <a:r>
              <a:rPr lang="zh-CN" altLang="en-US" sz="2400" dirty="0"/>
              <a:t> </a:t>
            </a:r>
            <a:r>
              <a:rPr lang="en-CA" altLang="zh-CN" sz="2400" dirty="0"/>
              <a:t>(Fine Turn after Training Stage)</a:t>
            </a:r>
            <a:endParaRPr lang="en-US" sz="1152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5352EF-FFD7-01F5-BA78-91555E7DCC44}"/>
              </a:ext>
            </a:extLst>
          </p:cNvPr>
          <p:cNvSpPr/>
          <p:nvPr/>
        </p:nvSpPr>
        <p:spPr>
          <a:xfrm>
            <a:off x="640080" y="118872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BBE9ECE-2F09-742F-2C50-9B0813A35546}"/>
              </a:ext>
            </a:extLst>
          </p:cNvPr>
          <p:cNvSpPr/>
          <p:nvPr/>
        </p:nvSpPr>
        <p:spPr>
          <a:xfrm>
            <a:off x="3319728" y="1295424"/>
            <a:ext cx="5615550" cy="891654"/>
          </a:xfrm>
          <a:prstGeom prst="rect">
            <a:avLst/>
          </a:prstGeom>
          <a:solidFill>
            <a:srgbClr val="FFFFFF"/>
          </a:solidFill>
          <a:ln w="9144">
            <a:solidFill>
              <a:srgbClr val="12B76A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sz="1152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Idea</a:t>
            </a:r>
            <a:br>
              <a:rPr lang="en-US" sz="1152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1008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CA" altLang="zh-CN" sz="1050" dirty="0"/>
              <a:t>Generated molecules are evaluated by expert models (oracles)</a:t>
            </a:r>
            <a:br>
              <a:rPr lang="en-CA" altLang="zh-CN" sz="1050" dirty="0"/>
            </a:br>
            <a:r>
              <a:rPr lang="en-US" altLang="zh-CN" sz="1050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CA" altLang="zh-CN" sz="1050" dirty="0"/>
              <a:t> Experts assign rewards based on desired properties</a:t>
            </a:r>
            <a:br>
              <a:rPr lang="en-CA" altLang="zh-CN" sz="1050" dirty="0"/>
            </a:br>
            <a:r>
              <a:rPr lang="en-US" altLang="zh-CN" sz="1050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CA" altLang="zh-CN" sz="1050" dirty="0"/>
              <a:t> The model is optimized to generate higher-reward molecules</a:t>
            </a:r>
            <a:endParaRPr lang="en-US" sz="1152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ECFD6DC-9DC0-F4E9-9A8F-6A6FD677DD16}"/>
              </a:ext>
            </a:extLst>
          </p:cNvPr>
          <p:cNvSpPr/>
          <p:nvPr/>
        </p:nvSpPr>
        <p:spPr>
          <a:xfrm>
            <a:off x="3319728" y="2256946"/>
            <a:ext cx="5615550" cy="1117485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an Expert?</a:t>
            </a:r>
            <a:endParaRPr lang="en-US" sz="1152" dirty="0"/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050" dirty="0"/>
              <a:t>• External evaluation function (not part of the model)</a:t>
            </a:r>
            <a:br>
              <a:rPr lang="en-CA" altLang="zh-CN" sz="1050" dirty="0"/>
            </a:br>
            <a:r>
              <a:rPr lang="en-CA" altLang="zh-CN" sz="1050" dirty="0"/>
              <a:t>• Examples:</a:t>
            </a:r>
            <a:br>
              <a:rPr lang="en-CA" altLang="zh-CN" sz="1050" dirty="0"/>
            </a:br>
            <a:r>
              <a:rPr lang="en-CA" altLang="zh-CN" sz="1050" dirty="0"/>
              <a:t>– Property predictors (QED, </a:t>
            </a:r>
            <a:r>
              <a:rPr lang="en-CA" altLang="zh-CN" sz="1050" dirty="0" err="1"/>
              <a:t>LogP</a:t>
            </a:r>
            <a:r>
              <a:rPr lang="en-CA" altLang="zh-CN" sz="1050" dirty="0"/>
              <a:t>, etc.)</a:t>
            </a:r>
            <a:br>
              <a:rPr lang="en-CA" altLang="zh-CN" sz="1050" dirty="0"/>
            </a:br>
            <a:r>
              <a:rPr lang="en-CA" altLang="zh-CN" sz="1050" dirty="0"/>
              <a:t>– Chemical validity checks</a:t>
            </a:r>
            <a:r>
              <a:rPr lang="zh-CN" altLang="en-US" sz="1050" dirty="0"/>
              <a:t> </a:t>
            </a:r>
            <a:r>
              <a:rPr lang="en-CA" altLang="zh-CN" sz="1050" dirty="0"/>
              <a:t>(</a:t>
            </a:r>
            <a:r>
              <a:rPr lang="en-CA" altLang="zh-CN" sz="1050" dirty="0" err="1"/>
              <a:t>RDKit</a:t>
            </a:r>
            <a:r>
              <a:rPr lang="en-CA" altLang="zh-CN" sz="1050" dirty="0"/>
              <a:t>)</a:t>
            </a:r>
            <a:endParaRPr lang="en-US" sz="1152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3D6EAE1-06E5-7107-4734-0748D3828A3C}"/>
              </a:ext>
            </a:extLst>
          </p:cNvPr>
          <p:cNvSpPr/>
          <p:nvPr/>
        </p:nvSpPr>
        <p:spPr>
          <a:xfrm>
            <a:off x="3319728" y="3483305"/>
            <a:ext cx="5615550" cy="1618392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Update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100" dirty="0"/>
              <a:t>• Step 1: sample molecular images from current model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100" dirty="0"/>
              <a:t>• Step 2: evaluate generated images with molecular experts</a:t>
            </a:r>
            <a:br>
              <a:rPr lang="en-CA" altLang="zh-CN" sz="1100" dirty="0"/>
            </a:br>
            <a:r>
              <a:rPr lang="en-CA" altLang="zh-CN" sz="1100" dirty="0"/>
              <a:t>• Step 3: build augmented feedback dataset (paper says problematic images are about 5% of training set size)</a:t>
            </a:r>
          </a:p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CA" altLang="zh-CN" sz="1100" dirty="0"/>
              <a:t>• Step 4:</a:t>
            </a:r>
            <a:r>
              <a:rPr lang="zh-CN" altLang="en-US" sz="1100" dirty="0"/>
              <a:t> </a:t>
            </a:r>
            <a:r>
              <a:rPr lang="en-CA" altLang="zh-CN" sz="1100" dirty="0"/>
              <a:t>fine-tune the model using mixed training data (original data + expert-identified bad cases, e.g., 70% / 30%)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FD631F-FAD3-C2DE-B73F-CB10E951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09" y="1243481"/>
            <a:ext cx="2482795" cy="384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44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dirty="0"/>
              <a:t>Quantitative Evaluation of Generated Molecules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14CF8A4-98DA-655E-056A-1CE0E4150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9025"/>
            <a:ext cx="7772400" cy="1906437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8E77E630-17DD-A731-2A3A-08BFD11E9F78}"/>
              </a:ext>
            </a:extLst>
          </p:cNvPr>
          <p:cNvSpPr/>
          <p:nvPr/>
        </p:nvSpPr>
        <p:spPr>
          <a:xfrm>
            <a:off x="621792" y="3784436"/>
            <a:ext cx="3697659" cy="923330"/>
          </a:xfrm>
          <a:prstGeom prst="rect">
            <a:avLst/>
          </a:prstGeom>
          <a:solidFill>
            <a:srgbClr val="F7F5FF"/>
          </a:solidFill>
          <a:ln w="9144">
            <a:solidFill>
              <a:srgbClr val="7A5AF8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200" dirty="0"/>
              <a:t>• </a:t>
            </a:r>
            <a:r>
              <a:rPr lang="en-CA" altLang="zh-CN" sz="1200" dirty="0" err="1"/>
              <a:t>SketchMol</a:t>
            </a:r>
            <a:r>
              <a:rPr lang="en-CA" altLang="zh-CN" sz="1200" dirty="0"/>
              <a:t> significantly reduces low-quality generations</a:t>
            </a:r>
            <a:br>
              <a:rPr lang="en-CA" altLang="zh-CN" sz="1200" dirty="0"/>
            </a:br>
            <a:r>
              <a:rPr lang="en-CA" altLang="zh-CN" sz="1200" dirty="0"/>
              <a:t>• Dramatically lowers irrational molecular structures</a:t>
            </a:r>
            <a:br>
              <a:rPr lang="en-CA" altLang="zh-CN" sz="1200" dirty="0"/>
            </a:br>
            <a:r>
              <a:rPr lang="en-CA" altLang="zh-CN" sz="1200" dirty="0"/>
              <a:t>• Achieves the highest valid image rate (0.90)</a:t>
            </a:r>
            <a:endParaRPr kumimoji="1" lang="zh-CN" altLang="en-US" sz="1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8D3CAFA-6B84-8041-279E-FE711CF0F7EF}"/>
              </a:ext>
            </a:extLst>
          </p:cNvPr>
          <p:cNvSpPr/>
          <p:nvPr/>
        </p:nvSpPr>
        <p:spPr>
          <a:xfrm>
            <a:off x="4572000" y="3784436"/>
            <a:ext cx="4239635" cy="923330"/>
          </a:xfrm>
          <a:prstGeom prst="rect">
            <a:avLst/>
          </a:prstGeom>
          <a:solidFill>
            <a:srgbClr val="F5F9FF"/>
          </a:solidFill>
          <a:ln w="9144">
            <a:solidFill>
              <a:srgbClr val="2F6BFF"/>
            </a:solidFill>
            <a:prstDash val="solid"/>
          </a:ln>
          <a:effectLst>
            <a:outerShdw blurRad="219456" dist="101600" dir="5400000" algn="bl" rotWithShape="0">
              <a:srgbClr val="0F172A">
                <a:alpha val="8000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200" dirty="0"/>
              <a:t>• Prior methods often generate unrecognizable or chemically invalid structures</a:t>
            </a:r>
            <a:br>
              <a:rPr lang="en-CA" altLang="zh-CN" sz="1200" dirty="0"/>
            </a:br>
            <a:r>
              <a:rPr lang="en-CA" altLang="zh-CN" sz="1200" dirty="0"/>
              <a:t>• </a:t>
            </a:r>
            <a:r>
              <a:rPr lang="en-CA" altLang="zh-CN" sz="1200" dirty="0" err="1"/>
              <a:t>SketchMol</a:t>
            </a:r>
            <a:r>
              <a:rPr lang="en-CA" altLang="zh-CN" sz="1200" dirty="0"/>
              <a:t> produces clear, chemically consistent molecules</a:t>
            </a:r>
          </a:p>
          <a:p>
            <a:endParaRPr kumimoji="1" lang="zh-CN" alt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4">
            <a:extLst>
              <a:ext uri="{FF2B5EF4-FFF2-40B4-BE49-F238E27FC236}">
                <a16:creationId xmlns:a16="http://schemas.microsoft.com/office/drawing/2014/main" id="{7A1D3E2C-3449-41D3-91BC-016BE54C118E}"/>
              </a:ext>
            </a:extLst>
          </p:cNvPr>
          <p:cNvSpPr/>
          <p:nvPr/>
        </p:nvSpPr>
        <p:spPr>
          <a:xfrm>
            <a:off x="4492698" y="1349905"/>
            <a:ext cx="3998160" cy="2455739"/>
          </a:xfrm>
          <a:custGeom>
            <a:avLst/>
            <a:gdLst/>
            <a:ahLst/>
            <a:cxnLst/>
            <a:rect l="l" t="t" r="r" b="b"/>
            <a:pathLst>
              <a:path w="2468880" h="1371600">
                <a:moveTo>
                  <a:pt x="0" y="0"/>
                </a:moveTo>
                <a:lnTo>
                  <a:pt x="2468880" y="0"/>
                </a:lnTo>
                <a:lnTo>
                  <a:pt x="24688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7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4882FA9F-6771-FF0B-36CC-88FAA898E197}"/>
              </a:ext>
            </a:extLst>
          </p:cNvPr>
          <p:cNvSpPr/>
          <p:nvPr/>
        </p:nvSpPr>
        <p:spPr>
          <a:xfrm>
            <a:off x="653142" y="1349906"/>
            <a:ext cx="3718561" cy="2455740"/>
          </a:xfrm>
          <a:custGeom>
            <a:avLst/>
            <a:gdLst/>
            <a:ahLst/>
            <a:cxnLst/>
            <a:rect l="l" t="t" r="r" b="b"/>
            <a:pathLst>
              <a:path w="1645920" h="1005840">
                <a:moveTo>
                  <a:pt x="0" y="0"/>
                </a:moveTo>
                <a:lnTo>
                  <a:pt x="1645920" y="0"/>
                </a:lnTo>
                <a:lnTo>
                  <a:pt x="1645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548640" y="45720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b="1" dirty="0"/>
              <a:t>Conclusion &amp; Future Directions</a:t>
            </a:r>
            <a:endParaRPr lang="en-US" sz="1152" b="1" dirty="0"/>
          </a:p>
        </p:txBody>
      </p:sp>
      <p:sp>
        <p:nvSpPr>
          <p:cNvPr id="4" name="Shape 1"/>
          <p:cNvSpPr/>
          <p:nvPr/>
        </p:nvSpPr>
        <p:spPr>
          <a:xfrm>
            <a:off x="640080" y="124358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1295876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Contribution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40080" y="1636824"/>
            <a:ext cx="3839556" cy="22356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1400" dirty="0"/>
              <a:t>• Proposes a unified visual-based molecular generation framework </a:t>
            </a:r>
            <a:br>
              <a:rPr lang="en-CA" altLang="zh-CN" sz="1400" dirty="0"/>
            </a:br>
            <a:r>
              <a:rPr lang="en-CA" altLang="zh-CN" sz="1400" dirty="0"/>
              <a:t>• Reformulates molecule design as image generation and editing </a:t>
            </a:r>
            <a:br>
              <a:rPr lang="en-CA" altLang="zh-CN" sz="1400" dirty="0"/>
            </a:br>
            <a:r>
              <a:rPr lang="en-CA" altLang="zh-CN" sz="1400" dirty="0"/>
              <a:t>• Integrates conditional control for property and activity guidance </a:t>
            </a:r>
            <a:br>
              <a:rPr lang="en-CA" altLang="zh-CN" sz="1400" dirty="0"/>
            </a:br>
            <a:r>
              <a:rPr lang="en-CA" altLang="zh-CN" sz="1400" dirty="0"/>
              <a:t>• Improves generation quality in both validity and interpretability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4572000" y="1287180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</a:rPr>
              <a:t>Key Strength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4572000" y="1587080"/>
            <a:ext cx="4023360" cy="1977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1400" dirty="0"/>
              <a:t>• Unified design for generation, editing, and inpainting </a:t>
            </a:r>
            <a:br>
              <a:rPr lang="en-CA" altLang="zh-CN" sz="1400" dirty="0"/>
            </a:br>
            <a:r>
              <a:rPr lang="en-CA" altLang="zh-CN" sz="1400" dirty="0"/>
              <a:t>• Intuitive image-based interface for molecule manipulation </a:t>
            </a:r>
            <a:br>
              <a:rPr lang="en-CA" altLang="zh-CN" sz="1400" dirty="0"/>
            </a:br>
            <a:r>
              <a:rPr lang="en-CA" altLang="zh-CN" sz="1400" dirty="0"/>
              <a:t>• Strong improvement in structural validity and chemical consistency </a:t>
            </a:r>
            <a:br>
              <a:rPr lang="en-CA" altLang="zh-CN" sz="1400" dirty="0"/>
            </a:br>
            <a:r>
              <a:rPr lang="en-CA" altLang="zh-CN" sz="1400" dirty="0"/>
              <a:t>• Flexible conditioning for multi-objective control</a:t>
            </a:r>
            <a:endParaRPr lang="en-US" sz="1152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E6018C9C-F9E0-389C-C983-87B6675B7C9F}"/>
              </a:ext>
            </a:extLst>
          </p:cNvPr>
          <p:cNvSpPr/>
          <p:nvPr/>
        </p:nvSpPr>
        <p:spPr>
          <a:xfrm>
            <a:off x="640080" y="3868369"/>
            <a:ext cx="7850778" cy="1194848"/>
          </a:xfrm>
          <a:custGeom>
            <a:avLst/>
            <a:gdLst/>
            <a:ahLst/>
            <a:cxnLst/>
            <a:rect l="l" t="t" r="r" b="b"/>
            <a:pathLst>
              <a:path w="3840480" h="420624">
                <a:moveTo>
                  <a:pt x="0" y="0"/>
                </a:moveTo>
                <a:lnTo>
                  <a:pt x="3840480" y="0"/>
                </a:lnTo>
                <a:lnTo>
                  <a:pt x="3840480" y="420624"/>
                </a:lnTo>
                <a:lnTo>
                  <a:pt x="0" y="420624"/>
                </a:ln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r>
              <a:rPr lang="en-US" altLang="zh-CN" sz="13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  <a:t>Limitations</a:t>
            </a:r>
          </a:p>
          <a:p>
            <a:endParaRPr lang="en-US" altLang="zh-CN" sz="1300" b="1" dirty="0">
              <a:solidFill>
                <a:srgbClr val="166534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CA" altLang="zh-CN" sz="1400" dirty="0"/>
              <a:t>• Limited expressiveness of 2D representations, lacking 3D geometry and stereochemistry </a:t>
            </a:r>
            <a:br>
              <a:rPr lang="en-CA" altLang="zh-CN" sz="1400" dirty="0"/>
            </a:br>
            <a:r>
              <a:rPr lang="en-CA" altLang="zh-CN" sz="1400" dirty="0"/>
              <a:t>• Reliance on OCR-based back-translation (e.g., </a:t>
            </a:r>
            <a:r>
              <a:rPr lang="en-CA" altLang="zh-CN" sz="1400" dirty="0" err="1"/>
              <a:t>MolScribe</a:t>
            </a:r>
            <a:r>
              <a:rPr lang="en-CA" altLang="zh-CN" sz="1400" dirty="0"/>
              <a:t>), introducing additional errors </a:t>
            </a:r>
            <a:br>
              <a:rPr lang="en-CA" altLang="zh-CN" sz="1400" dirty="0"/>
            </a:br>
            <a:r>
              <a:rPr lang="en-CA" altLang="zh-CN" sz="1400" dirty="0"/>
              <a:t>• Performance degrades for high molecular weight or complex structures</a:t>
            </a:r>
            <a:br>
              <a:rPr lang="en-US" altLang="zh-CN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</a:b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3397</TotalTime>
  <Words>3169</Words>
  <Application>Microsoft Macintosh PowerPoint</Application>
  <PresentationFormat>全屏显示(16:9)</PresentationFormat>
  <Paragraphs>369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Aining Wen</cp:lastModifiedBy>
  <cp:revision>4</cp:revision>
  <dcterms:created xsi:type="dcterms:W3CDTF">2026-04-03T22:22:02Z</dcterms:created>
  <dcterms:modified xsi:type="dcterms:W3CDTF">2026-04-17T19:28:45Z</dcterms:modified>
</cp:coreProperties>
</file>